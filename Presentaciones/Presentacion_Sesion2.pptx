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Comfortaa SemiBold"/>
      <p:regular r:id="rId19"/>
      <p:bold r:id="rId20"/>
    </p:embeddedFont>
    <p:embeddedFont>
      <p:font typeface="Comforta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BFB3D8-8377-445D-B728-6FECB64A29B6}">
  <a:tblStyle styleId="{B9BFB3D8-8377-445D-B728-6FECB64A29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SemiBold-bold.fntdata"/><Relationship Id="rId11" Type="http://schemas.openxmlformats.org/officeDocument/2006/relationships/slide" Target="slides/slide6.xml"/><Relationship Id="rId22" Type="http://schemas.openxmlformats.org/officeDocument/2006/relationships/font" Target="fonts/Comfortaa-bold.fntdata"/><Relationship Id="rId10" Type="http://schemas.openxmlformats.org/officeDocument/2006/relationships/slide" Target="slides/slide5.xml"/><Relationship Id="rId21" Type="http://schemas.openxmlformats.org/officeDocument/2006/relationships/font" Target="fonts/Comforta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SemiBold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5a36d352f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g3c5a36d352f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c5a36d352f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d084b41bd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g3d084b41bd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Todo lo que construyamos hoy debe alimentar directamente el cribado y el PRISMA de la sesión siguiente.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Meta: salir con artefactos, no solo con ideas.</a:t>
            </a:r>
            <a:endParaRPr/>
          </a:p>
        </p:txBody>
      </p:sp>
      <p:sp>
        <p:nvSpPr>
          <p:cNvPr id="29" name="Google Shape;29;g3d084b41bdc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Un criterio operativo se puede aplicar leyendo título/resumen o texto completo, y permite decidir con una lógica de sí/no.</a:t>
            </a:r>
            <a:endParaRPr/>
          </a:p>
        </p:txBody>
      </p:sp>
      <p:sp>
        <p:nvSpPr>
          <p:cNvPr id="39" name="Google Shape;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084b41bd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d084b41bd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084b41bdc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84b41bd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84b41bd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084b41bd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Construir cadenas de búsqueda por bloques conceptuales</a:t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Scopus Support: en búsqueda avanzada pueden combinarse campos, operadores booleanos y de proximidad; además, el orden de precedencia no es estrictamente izquierda a derecha. citeturn0search1turn0search3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084b41bd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084b41bdc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084b41bdc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5a36d352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5a36d352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NotebookLM permite preguntar sobre las fuentes cargadas y responder con citas vinculadas a esas fuentes; además, Google documenta funciones para descubrir fuentes web, útiles para exploración inicial, pero eso no sustituye una búsqueda sistemática reproducible en bases.</a:t>
            </a:r>
            <a:endParaRPr/>
          </a:p>
        </p:txBody>
      </p:sp>
      <p:sp>
        <p:nvSpPr>
          <p:cNvPr id="108" name="Google Shape;108;g3c5a36d352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Es la primera versión defendible de tu plan de revisión: no es perfecta, pero ya es auditable.</a:t>
            </a:r>
            <a:endParaRPr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El documento que sostiene la reproducibilidad y el PRISMA</a:t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Scopus Support: Scopus permite búsqueda por campos del documento y refinar resultados con filtros en la página de resultados. citeturn0search3turn0search15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10800000">
            <a:off x="100" y="0"/>
            <a:ext cx="12192000" cy="869700"/>
          </a:xfrm>
          <a:prstGeom prst="round2SameRect">
            <a:avLst>
              <a:gd fmla="val 41362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mfortaa"/>
              <a:buNone/>
              <a:defRPr b="1" sz="25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548640" y="1645920"/>
            <a:ext cx="11094300" cy="3291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914400" y="2057400"/>
            <a:ext cx="10362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i="0" lang="en-US" sz="4000" u="none" cap="none" strike="noStrike">
                <a:solidFill>
                  <a:srgbClr val="FFFFF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Taller: Revisiones sistemáticas con PRISMA (y bibliometría)</a:t>
            </a:r>
            <a:endParaRPr i="0" sz="4000" u="none" cap="none" strike="noStrike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914400" y="3566160"/>
            <a:ext cx="1036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Calibri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Protocolo V1 y búsqueda reproducible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7752700" y="5836675"/>
            <a:ext cx="394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arturo sánchez porras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17/03/2025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 de la sesión</a:t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Entender qué es el Protocolo V1 y cómo convertirlo en un producto mínimo viable.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Definir una matriz de criterios operativos que permita decidir con lógica de sí/no.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Comprender qué registra una bitácora de búsqueda y por qué sostiene la trazabilidad.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Practicar técnicas de string building: bloques conceptuales, operadores booleanos y manejo de sinónimos.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/>
              <a:t>Observar el flujo básico de uso de la biblioteca digital y de una base como Scopus o EBSCO.</a:t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7518825" y="2155476"/>
            <a:ext cx="3657600" cy="3414900"/>
          </a:xfrm>
          <a:prstGeom prst="roundRect">
            <a:avLst>
              <a:gd fmla="val 9363" name="adj"/>
            </a:avLst>
          </a:prstGeom>
          <a:solidFill>
            <a:srgbClr val="E69138"/>
          </a:solidFill>
          <a:ln>
            <a:noFill/>
          </a:ln>
          <a:effectLst>
            <a:outerShdw blurRad="71438" rotWithShape="0" algn="bl" dir="2700000" dist="476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8216300" y="2725025"/>
            <a:ext cx="2366400" cy="22758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14100000" dist="285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0"/>
          </a:p>
        </p:txBody>
      </p:sp>
      <p:sp>
        <p:nvSpPr>
          <p:cNvPr id="35" name="Google Shape;35;p5"/>
          <p:cNvSpPr txBox="1"/>
          <p:nvPr/>
        </p:nvSpPr>
        <p:spPr>
          <a:xfrm>
            <a:off x="6779750" y="2859902"/>
            <a:ext cx="5239500" cy="2031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solidFill>
                  <a:schemeClr val="dk1"/>
                </a:solidFill>
              </a:rPr>
              <a:t>👀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/>
              <a:t>La pieza que convierte una decisión vaga en una decisión auditable</a:t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944875" y="3305725"/>
            <a:ext cx="4617600" cy="2224200"/>
          </a:xfrm>
          <a:prstGeom prst="roundRect">
            <a:avLst>
              <a:gd fmla="val 11703" name="adj"/>
            </a:avLst>
          </a:prstGeom>
          <a:solidFill>
            <a:srgbClr val="E06666"/>
          </a:solidFill>
          <a:ln>
            <a:noFill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1173480" y="3534343"/>
            <a:ext cx="310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Criterios poco operativos</a:t>
            </a:r>
            <a:endParaRPr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1173480" y="3900103"/>
            <a:ext cx="43890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“Estudios relevantes para el tema”.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“Artículos de alta calidad”.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“Investigaciones suficientemente recientes”.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“Textos con enfoque adecuado”.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580626" y="2880350"/>
            <a:ext cx="4974600" cy="2926200"/>
          </a:xfrm>
          <a:prstGeom prst="roundRect">
            <a:avLst>
              <a:gd fmla="val 13434" name="adj"/>
            </a:avLst>
          </a:prstGeom>
          <a:solidFill>
            <a:srgbClr val="6AA84F"/>
          </a:solidFill>
          <a:ln>
            <a:noFill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6809232" y="3108960"/>
            <a:ext cx="310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Criterios operativos</a:t>
            </a:r>
            <a:endParaRPr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809232" y="3474720"/>
            <a:ext cx="45264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 si el estudio reporta población o contexto X.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 si presenta datos empíricos y texto completo.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Excluye si es editorial, opinión o marco teórico sin datos.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Excluye si no aborda la variable/concepto definido en la pregunta.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Matriz de criterios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Cuando no est</a:t>
            </a:r>
            <a:r>
              <a:rPr lang="en-US"/>
              <a:t>ás seguro…</a:t>
            </a:r>
            <a:endParaRPr/>
          </a:p>
        </p:txBody>
      </p:sp>
      <p:graphicFrame>
        <p:nvGraphicFramePr>
          <p:cNvPr id="55" name="Google Shape;55;p7"/>
          <p:cNvGraphicFramePr/>
          <p:nvPr/>
        </p:nvGraphicFramePr>
        <p:xfrm>
          <a:off x="-51800" y="122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{B9BFB3D8-8377-445D-B728-6FECB64A29B6}</a:tableStyleId>
              </a:tblPr>
              <a:tblGrid>
                <a:gridCol w="3590925"/>
                <a:gridCol w="2133600"/>
                <a:gridCol w="6391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Caso frontera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Decisión sugerida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Regla / razón explícita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artículo es </a:t>
                      </a:r>
                      <a:r>
                        <a:rPr b="1" lang="en-US" sz="1600"/>
                        <a:t>teórico o ensayo</a:t>
                      </a:r>
                      <a:r>
                        <a:rPr lang="en-US" sz="1600"/>
                        <a:t>, pero muy relevante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 del corpus principal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Si la revisión incluye solo estudios empíricos, los textos conceptuales pueden usarse para marco teórico, no para síntesis de resultados.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tema coincide, pero la </a:t>
                      </a:r>
                      <a:r>
                        <a:rPr b="1" lang="en-US" sz="1600"/>
                        <a:t>población</a:t>
                      </a:r>
                      <a:r>
                        <a:rPr lang="en-US" sz="1600"/>
                        <a:t> es distinta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Solo incluir si la población corresponde a la definida en la pregunta o si el protocolo permite comparaciones entre poblaciones.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fenómeno coincide, pero el </a:t>
                      </a:r>
                      <a:r>
                        <a:rPr b="1" lang="en-US" sz="1600"/>
                        <a:t>contexto</a:t>
                      </a:r>
                      <a:r>
                        <a:rPr lang="en-US" sz="1600"/>
                        <a:t> es otro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Si el contexto forma parte del alcance, estudios en otro nivel/sector deben salir.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</a:t>
                      </a:r>
                      <a:r>
                        <a:rPr b="1" lang="en-US" sz="1600"/>
                        <a:t>título/resumen</a:t>
                      </a:r>
                      <a:r>
                        <a:rPr lang="en-US" sz="1600"/>
                        <a:t> parece pertinente, pero el texto completo no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 en texto completo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Registrar razón: el foco real del estudio no corresponde al objeto de revisión.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concepto aparece, pero como </a:t>
                      </a:r>
                      <a:r>
                        <a:rPr b="1" lang="en-US" sz="1600"/>
                        <a:t>mención secundaria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concepto central debe estar definido, analizado o medido; no basta con que se mencione de paso.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Usa un </a:t>
                      </a:r>
                      <a:r>
                        <a:rPr b="1" lang="en-US" sz="1600"/>
                        <a:t>sinónimo poco usual</a:t>
                      </a:r>
                      <a:r>
                        <a:rPr lang="en-US" sz="1600"/>
                        <a:t> o etiqueta distinta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Revisar definición antes de decidir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Incluir solo si el término es conceptualmente equivalente según la definición operativa del estudio.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Cumple tema y población, pero el estudio es </a:t>
                      </a:r>
                      <a:r>
                        <a:rPr b="1" lang="en-US" sz="1600"/>
                        <a:t>metodológicamente débil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Incluir y marcar para evaluación crítica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No excluir por “mala calidad” salvo que el protocolo tenga un criterio explícito de calidad metodológica.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Cuando no est</a:t>
            </a:r>
            <a:r>
              <a:rPr lang="en-US"/>
              <a:t>ás seguro…</a:t>
            </a:r>
            <a:endParaRPr/>
          </a:p>
        </p:txBody>
      </p:sp>
      <p:graphicFrame>
        <p:nvGraphicFramePr>
          <p:cNvPr id="62" name="Google Shape;62;p8"/>
          <p:cNvGraphicFramePr/>
          <p:nvPr/>
        </p:nvGraphicFramePr>
        <p:xfrm>
          <a:off x="-51800" y="122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{B9BFB3D8-8377-445D-B728-6FECB64A29B6}</a:tableStyleId>
              </a:tblPr>
              <a:tblGrid>
                <a:gridCol w="3590925"/>
                <a:gridCol w="2133600"/>
                <a:gridCol w="6391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Caso frontera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Decisión sugerida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Regla / razón explícita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No se consigue el </a:t>
                      </a:r>
                      <a:r>
                        <a:rPr b="1" lang="en-US" sz="1600"/>
                        <a:t>texto completo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Registrar razón: texto completo no recuperable.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Es </a:t>
                      </a:r>
                      <a:r>
                        <a:rPr b="1" lang="en-US" sz="1600"/>
                        <a:t>tesis, informe o capítulo</a:t>
                      </a:r>
                      <a:r>
                        <a:rPr lang="en-US" sz="1600"/>
                        <a:t> en lugar de artículo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Depende del protocolo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Incluir solo si la revisión acepta literatura gris; no decidir caso por caso.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estudio mezcla varias poblaciones y no se pueden separar resultados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Si no es posible aislar la evidencia de la población objetivo, no sirve para síntesis directa.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Está </a:t>
                      </a:r>
                      <a:r>
                        <a:rPr b="1" lang="en-US" sz="1600"/>
                        <a:t>fuera del periodo</a:t>
                      </a:r>
                      <a:r>
                        <a:rPr lang="en-US" sz="1600"/>
                        <a:t> por poco tiempo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Solo hacer excepción si el protocolo contempla textos fundacionales.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Está en un </a:t>
                      </a:r>
                      <a:r>
                        <a:rPr b="1" lang="en-US" sz="1600"/>
                        <a:t>idioma no contemplado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idioma debe respetarse como criterio general, no modificarse por conveniencia.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Es una </a:t>
                      </a:r>
                      <a:r>
                        <a:rPr b="1" lang="en-US" sz="1600"/>
                        <a:t>revisión previa</a:t>
                      </a:r>
                      <a:r>
                        <a:rPr lang="en-US" sz="1600"/>
                        <a:t>, no un estudio primario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 del corpus principal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Puede servir para localizar referencias, pero no como evidencia primaria si ese es el foco.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El resumen promete resultados, pero el texto es solo </a:t>
                      </a:r>
                      <a:r>
                        <a:rPr b="1" lang="en-US" sz="1600"/>
                        <a:t>propuesta/diseño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Excluir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Si no reporta implementación o resultados empíricos, no entra.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Responde solo </a:t>
                      </a:r>
                      <a:r>
                        <a:rPr b="1" lang="en-US" sz="1600"/>
                        <a:t>parcialmente</a:t>
                      </a:r>
                      <a:r>
                        <a:rPr lang="en-US" sz="1600"/>
                        <a:t> a la pregunta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Revisar si cubre el núcleo analítico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Incluir solo si responde el componente central de la pregunta; excluir si toca aspectos periféricos.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Construyendo cadenas de búsqueda</a:t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640075" y="1783076"/>
            <a:ext cx="10972800" cy="3616200"/>
          </a:xfrm>
          <a:prstGeom prst="roundRect">
            <a:avLst>
              <a:gd fmla="val 1649" name="adj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914400" y="2156532"/>
            <a:ext cx="2651700" cy="1344300"/>
          </a:xfrm>
          <a:prstGeom prst="roundRect">
            <a:avLst>
              <a:gd fmla="val 23378" name="adj"/>
            </a:avLst>
          </a:prstGeom>
          <a:solidFill>
            <a:srgbClr val="3C78D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914400" y="2620411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Clr>
                <a:srgbClr val="2563EB"/>
              </a:buClr>
              <a:buSzPts val="21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Concepto principal</a:t>
            </a:r>
            <a:endParaRPr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3886200" y="2156611"/>
            <a:ext cx="2651700" cy="1344300"/>
          </a:xfrm>
          <a:prstGeom prst="roundRect">
            <a:avLst>
              <a:gd fmla="val 21947" name="adj"/>
            </a:avLst>
          </a:prstGeom>
          <a:solidFill>
            <a:srgbClr val="93C47D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4062980" y="2620414"/>
            <a:ext cx="2287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1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1000"/>
              </a:spcAft>
              <a:buClr>
                <a:srgbClr val="0F766E"/>
              </a:buClr>
              <a:buSzPts val="2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Fenómeno o variable</a:t>
            </a:r>
            <a:endParaRPr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6783825" y="2156686"/>
            <a:ext cx="2331600" cy="1344300"/>
          </a:xfrm>
          <a:prstGeom prst="roundRect">
            <a:avLst>
              <a:gd fmla="val 24004" name="adj"/>
            </a:avLst>
          </a:prstGeom>
          <a:solidFill>
            <a:srgbClr val="FFD96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6939290" y="2620418"/>
            <a:ext cx="2012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21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1000"/>
              </a:spcAft>
              <a:buClr>
                <a:srgbClr val="92400E"/>
              </a:buClr>
              <a:buSzPts val="2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Contexto o Poblacion</a:t>
            </a:r>
            <a:endParaRPr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9450975" y="2156598"/>
            <a:ext cx="1828800" cy="1344300"/>
          </a:xfrm>
          <a:prstGeom prst="roundRect">
            <a:avLst>
              <a:gd fmla="val 20200" name="adj"/>
            </a:avLst>
          </a:prstGeom>
          <a:solidFill>
            <a:srgbClr val="999999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9633857" y="2666133"/>
            <a:ext cx="146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2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868680" y="3977640"/>
            <a:ext cx="10058400" cy="89249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Calibri"/>
              <a:buChar char="•"/>
            </a:pPr>
            <a:r>
              <a:rPr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Dentro de cada bloque, los sinónimos se conectan con OR.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Calibri"/>
              <a:buChar char="•"/>
            </a:pPr>
            <a:r>
              <a:rPr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Entre bloques, la relación principal suele ser AND.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700"/>
              <a:buFont typeface="Calibri"/>
              <a:buChar char="•"/>
            </a:pPr>
            <a:r>
              <a:rPr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Los filtros van al final: años, idioma, tipo de documento o campo.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/>
        </p:nvSpPr>
        <p:spPr>
          <a:xfrm>
            <a:off x="594360" y="1071996"/>
            <a:ext cx="1097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se trata de acumular palabras: se trata de capturar variación relevante sin inflar ruido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640080" y="1962529"/>
            <a:ext cx="5440800" cy="4480500"/>
          </a:xfrm>
          <a:prstGeom prst="roundRect">
            <a:avLst>
              <a:gd fmla="val 7389" name="adj"/>
            </a:avLst>
          </a:prstGeom>
          <a:solidFill>
            <a:srgbClr val="FCD34D"/>
          </a:solidFill>
          <a:ln>
            <a:noFill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868671" y="2191124"/>
            <a:ext cx="3807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 de bloque</a:t>
            </a:r>
            <a:endParaRPr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982980" y="2742070"/>
            <a:ext cx="475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Clr>
                <a:srgbClr val="2563E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("competencias digitales" OR "digital competence" OR "digital literacy" OR edtech)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868680" y="4037610"/>
            <a:ext cx="44805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476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Char char="•"/>
            </a:pPr>
            <a:r>
              <a:rPr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Empieza por el término núcleo y agrega equivalentes reales.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Char char="•"/>
            </a:pPr>
            <a:r>
              <a:rPr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Incluye variantes de idioma si la revisión lo </a:t>
            </a:r>
            <a:r>
              <a:rPr lang="en-US" sz="1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amerita</a:t>
            </a:r>
            <a:r>
              <a:rPr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28600" marR="0" rtl="0" algn="l"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800"/>
              <a:buFont typeface="Calibri"/>
              <a:buChar char="•"/>
            </a:pPr>
            <a:r>
              <a:rPr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Evita sinónimos tan amplios que desdibujen la pregunta.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6309360" y="1962529"/>
            <a:ext cx="5303400" cy="4480500"/>
          </a:xfrm>
          <a:prstGeom prst="roundRect">
            <a:avLst>
              <a:gd fmla="val 8549" name="adj"/>
            </a:avLst>
          </a:prstGeom>
          <a:solidFill>
            <a:srgbClr val="8E7CC3"/>
          </a:solidFill>
          <a:ln>
            <a:noFill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6537960" y="2189204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Clr>
                <a:srgbClr val="92400E"/>
              </a:buClr>
              <a:buSzPts val="20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Técnicas útiles</a:t>
            </a:r>
            <a:endParaRPr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6537960" y="2600684"/>
            <a:ext cx="44805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41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Char char="•"/>
            </a:pPr>
            <a:r>
              <a:rPr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Buscar en títulos, resúmenes o palabras clave cuando la base lo permita.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Char char="•"/>
            </a:pPr>
            <a:r>
              <a:rPr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Usar comillas para frases exactas.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Char char="•"/>
            </a:pPr>
            <a:r>
              <a:rPr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Probar truncamientos con cuidado.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800"/>
              <a:buFont typeface="Calibri"/>
              <a:buChar char="•"/>
            </a:pPr>
            <a:r>
              <a:rPr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Agregar un término de contexto solo si realmente ayuda a focalizar.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6537950" y="5300104"/>
            <a:ext cx="4134000" cy="868800"/>
          </a:xfrm>
          <a:prstGeom prst="roundRect">
            <a:avLst>
              <a:gd fmla="val 11429" name="adj"/>
            </a:avLst>
          </a:prstGeom>
          <a:solidFill>
            <a:srgbClr val="FFD966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6720850" y="5383473"/>
            <a:ext cx="36576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Clr>
                <a:srgbClr val="92400E"/>
              </a:buClr>
              <a:buSzPts val="1500"/>
              <a:buFont typeface="Arial"/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rimero sensibilidad, luego precisión.</a:t>
            </a:r>
            <a:endParaRPr i="0" sz="2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Manejo de sinónimos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317500" y="4606425"/>
            <a:ext cx="8130600" cy="1715100"/>
          </a:xfrm>
          <a:prstGeom prst="roundRect">
            <a:avLst>
              <a:gd fmla="val 9363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317500" y="2633500"/>
            <a:ext cx="7230000" cy="1619100"/>
          </a:xfrm>
          <a:prstGeom prst="roundRect">
            <a:avLst>
              <a:gd fmla="val 9363" name="adj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317500" y="1216777"/>
            <a:ext cx="9165000" cy="1062900"/>
          </a:xfrm>
          <a:prstGeom prst="roundRect">
            <a:avLst>
              <a:gd fmla="val 9363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ejemplo</a:t>
            </a:r>
            <a:endParaRPr/>
          </a:p>
        </p:txBody>
      </p:sp>
      <p:sp>
        <p:nvSpPr>
          <p:cNvPr id="104" name="Google Shape;104;p11"/>
          <p:cNvSpPr txBox="1"/>
          <p:nvPr>
            <p:ph idx="1" type="body"/>
          </p:nvPr>
        </p:nvSpPr>
        <p:spPr>
          <a:xfrm>
            <a:off x="317500" y="1312325"/>
            <a:ext cx="112338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Pregunta: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¿Cómo se reportan las competencias digitales en la formación docente en educación superior?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Bloques: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A: “competencias digitales” OR “digital competence” OR “digital literacy”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B: “formación docente” OR “teacher training” OR “teacher education”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C: “educación superior” OR “higher education” OR universit*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String base: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("competencias digitales" OR "digital competence" OR "digital literacy")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 ("formación docente" OR "teacher training" OR "teacher education")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 ("educación superior" OR "higher education" OR universit*)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NotebookLM en la b</a:t>
            </a:r>
            <a:r>
              <a:rPr lang="en-US"/>
              <a:t>úsqueda</a:t>
            </a:r>
            <a:endParaRPr/>
          </a:p>
        </p:txBody>
      </p:sp>
      <p:sp>
        <p:nvSpPr>
          <p:cNvPr id="111" name="Google Shape;111;p12"/>
          <p:cNvSpPr txBox="1"/>
          <p:nvPr>
            <p:ph idx="1" type="body"/>
          </p:nvPr>
        </p:nvSpPr>
        <p:spPr>
          <a:xfrm>
            <a:off x="317500" y="1197425"/>
            <a:ext cx="11377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F2937"/>
                </a:solidFill>
              </a:rPr>
              <a:t>Úsalo para pensar mejor el lenguaje de búsqueda, no para reemplazar la base de datos ni la decisión metodológica.</a:t>
            </a:r>
            <a:endParaRPr b="1" sz="2800">
              <a:solidFill>
                <a:srgbClr val="1F2937"/>
              </a:solidFill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640075" y="2634353"/>
            <a:ext cx="3657600" cy="3718800"/>
          </a:xfrm>
          <a:prstGeom prst="roundRect">
            <a:avLst>
              <a:gd fmla="val 9363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868675" y="2822159"/>
            <a:ext cx="2926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¿Para qué sí?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868675" y="3160212"/>
            <a:ext cx="31089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Detectar sinónimos y variantes terminológicas a partir de textos semilla.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Comparar cómo distintos autores nombran el mismo fenómeno.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Identificar ambigüedades, polisemia y términos trampa.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Reconocer expresiones demasiado amplias o demasiado locales.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4526275" y="3047450"/>
            <a:ext cx="3429000" cy="3305700"/>
          </a:xfrm>
          <a:prstGeom prst="roundRect">
            <a:avLst>
              <a:gd fmla="val 9834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4754875" y="3154177"/>
            <a:ext cx="2794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qué no?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4754875" y="3492229"/>
            <a:ext cx="29940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sustituye la búsqueda sistemática en Scopus, EBSCO u otra base.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decide criterios de inclusión/exclusión.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valida por sí mismo la pertinencia metodológica.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reemplaza la bitácora ni el control PRISMA.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8183875" y="2126925"/>
            <a:ext cx="3337500" cy="4226100"/>
          </a:xfrm>
          <a:prstGeom prst="roundRect">
            <a:avLst>
              <a:gd fmla="val 9436" name="adj"/>
            </a:avLst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/>
          <p:nvPr/>
        </p:nvSpPr>
        <p:spPr>
          <a:xfrm>
            <a:off x="8412475" y="2293025"/>
            <a:ext cx="2743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Prompts útiles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8412475" y="2631077"/>
            <a:ext cx="27432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“A partir de estas fuentes, ¿qué términos equivalentes aparecen para este concepto?”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“¿Qué expresiones parecen ambiguas o demasiado generales?”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“¿Qué variantes en español e inglés conviene probar?”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“¿Qué términos relacionados podrían introducir falsos positivos?”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/>
          <p:nvPr/>
        </p:nvSpPr>
        <p:spPr>
          <a:xfrm>
            <a:off x="640075" y="1783076"/>
            <a:ext cx="3657600" cy="3414900"/>
          </a:xfrm>
          <a:prstGeom prst="roundRect">
            <a:avLst>
              <a:gd fmla="val 9363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868680" y="20116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incluye?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868680" y="2423160"/>
            <a:ext cx="3108960" cy="1234249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0320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Pregunta final y justificación breve.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Alcance: contexto, periodo, idioma y tipo de evidencia.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Criterios de inclusión y exclusión.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Plan de selección y manejo de casos frontera.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Campos mínimos de extracción y plan preliminar de síntesis.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4526275" y="3039928"/>
            <a:ext cx="3429000" cy="3269400"/>
          </a:xfrm>
          <a:prstGeom prst="roundRect">
            <a:avLst>
              <a:gd fmla="val 9834" name="adj"/>
            </a:avLst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4754875" y="3230875"/>
            <a:ext cx="277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NO es?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754875" y="3642354"/>
            <a:ext cx="29784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0320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es la versión final para publicación.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exige agotar todas las decisiones metodológicas.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reemplaza la bitácora ni el diagrama PRISMA.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se evalúa por “elegancia”, sino por claridad y operatividad.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8183875" y="1783076"/>
            <a:ext cx="3337500" cy="3269400"/>
          </a:xfrm>
          <a:prstGeom prst="roundRect">
            <a:avLst>
              <a:gd fmla="val 9436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8412480" y="2011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Producto mínimo viable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8412480" y="2423160"/>
            <a:ext cx="2743200" cy="101517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0320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 pregunta y los criterios ya son coherentes entre sí.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Otra persona podría entender qué entra y qué sale.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 búsqueda puede ejecutarse sin rehacer toda la lógica.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El documento ya se puede discutir con un asesor.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Protocolo V1: ¿Qué es y para qué sirve?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Bitácora de búsqueda</a:t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721775" y="1633077"/>
            <a:ext cx="3840600" cy="3263700"/>
          </a:xfrm>
          <a:prstGeom prst="roundRect">
            <a:avLst>
              <a:gd fmla="val 8405" name="adj"/>
            </a:avLst>
          </a:prstGeom>
          <a:solidFill>
            <a:srgbClr val="8E7CC3"/>
          </a:solidFill>
          <a:ln>
            <a:noFill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868680" y="1930458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Clr>
                <a:srgbClr val="2563EB"/>
              </a:buClr>
              <a:buSzPts val="2000"/>
              <a:buFont typeface="Arial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registra?</a:t>
            </a:r>
            <a:endParaRPr i="0" sz="2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868680" y="2296218"/>
            <a:ext cx="31089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Fuente/base consultada.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 de búsqueda.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exacto usado.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Filtros y límites aplicados.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de resultados obtenidos.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Notas: ruido, ajustes, decisiones y observaciones.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4790850" y="2814549"/>
            <a:ext cx="2834700" cy="2858100"/>
          </a:xfrm>
          <a:prstGeom prst="roundRect">
            <a:avLst>
              <a:gd fmla="val 9603" name="adj"/>
            </a:avLst>
          </a:prstGeom>
          <a:solidFill>
            <a:srgbClr val="FFD966"/>
          </a:solidFill>
          <a:ln>
            <a:noFill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4937749" y="3035177"/>
            <a:ext cx="252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Clr>
                <a:srgbClr val="0F766E"/>
              </a:buClr>
              <a:buSzPts val="2000"/>
              <a:buFont typeface="Arial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¿Para qué sirve?</a:t>
            </a:r>
            <a:endParaRPr i="0" sz="2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4937749" y="3400941"/>
            <a:ext cx="24738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Recordar exactamente qué se hizo.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 perder ajustes útiles.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Rendir cuentas ante asesoría o revisión.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Alimentar los conteos del flujo PRISMA.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7854100" y="3766678"/>
            <a:ext cx="3840600" cy="2858100"/>
          </a:xfrm>
          <a:prstGeom prst="roundRect">
            <a:avLst>
              <a:gd fmla="val 9448" name="adj"/>
            </a:avLst>
          </a:prstGeom>
          <a:solidFill>
            <a:srgbClr val="6AA84F"/>
          </a:solidFill>
          <a:ln>
            <a:noFill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8001000" y="4064050"/>
            <a:ext cx="35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Clr>
                <a:srgbClr val="92400E"/>
              </a:buClr>
              <a:buSzPts val="2000"/>
              <a:buFont typeface="Arial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Campos mínimos sugeridos</a:t>
            </a:r>
            <a:endParaRPr i="0" sz="2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8001000" y="4539550"/>
            <a:ext cx="3396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Clr>
                <a:srgbClr val="1F2937"/>
              </a:buClr>
              <a:buSzPts val="1700"/>
              <a:buFont typeface="Arial"/>
              <a:buNone/>
            </a:pPr>
            <a:r>
              <a:rPr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| Fecha | String | Filtros | Resultados | Exportación | Observaciones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4"/>
          <p:cNvCxnSpPr/>
          <p:nvPr/>
        </p:nvCxnSpPr>
        <p:spPr>
          <a:xfrm>
            <a:off x="8092440" y="5664258"/>
            <a:ext cx="3304800" cy="0"/>
          </a:xfrm>
          <a:prstGeom prst="straightConnector1">
            <a:avLst/>
          </a:prstGeom>
          <a:noFill/>
          <a:ln cap="flat" cmpd="sng" w="127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4"/>
          <p:cNvSpPr/>
          <p:nvPr/>
        </p:nvSpPr>
        <p:spPr>
          <a:xfrm>
            <a:off x="8001000" y="5892850"/>
            <a:ext cx="3396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000"/>
              </a:spcAft>
              <a:buClr>
                <a:srgbClr val="92400E"/>
              </a:buClr>
              <a:buSzPts val="1600"/>
              <a:buFont typeface="Arial"/>
              <a:buNone/>
            </a:pPr>
            <a:r>
              <a:rPr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bitácora, la búsqueda deja de ser auditable.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/>
          <p:nvPr/>
        </p:nvSpPr>
        <p:spPr>
          <a:xfrm>
            <a:off x="50" y="1180075"/>
            <a:ext cx="1219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Biblioteca digital → base de datos → búsqueda → refinamiento → exportación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868675" y="2643150"/>
            <a:ext cx="1645800" cy="2972700"/>
          </a:xfrm>
          <a:prstGeom prst="roundRect">
            <a:avLst>
              <a:gd fmla="val 15275" name="adj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1463040" y="289914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841248" y="3786114"/>
            <a:ext cx="171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Entrar a la biblioteca digital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841248" y="4426194"/>
            <a:ext cx="171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acceso institucional y elegir base según el tema.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2651760" y="2981442"/>
            <a:ext cx="292500" cy="255900"/>
          </a:xfrm>
          <a:prstGeom prst="chevron">
            <a:avLst>
              <a:gd fmla="val 50000" name="adj"/>
            </a:avLst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3063250" y="2643151"/>
            <a:ext cx="1645800" cy="3036000"/>
          </a:xfrm>
          <a:prstGeom prst="roundRect">
            <a:avLst>
              <a:gd fmla="val 15060" name="adj"/>
            </a:avLst>
          </a:prstGeom>
          <a:solidFill>
            <a:srgbClr val="3C78D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3657600" y="289914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3035808" y="3786114"/>
            <a:ext cx="171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Abrir 2–3 textos semilla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3035808" y="4426194"/>
            <a:ext cx="171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Pueden venir del conocimiento previo o de una búsqueda exploratoria.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4846320" y="2981442"/>
            <a:ext cx="292500" cy="255900"/>
          </a:xfrm>
          <a:prstGeom prst="chevron">
            <a:avLst>
              <a:gd fmla="val 50000" name="adj"/>
            </a:avLst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5257800" y="2643151"/>
            <a:ext cx="1645800" cy="3036000"/>
          </a:xfrm>
          <a:prstGeom prst="roundRect">
            <a:avLst>
              <a:gd fmla="val 16039" name="adj"/>
            </a:avLst>
          </a:prstGeom>
          <a:solidFill>
            <a:srgbClr val="6D9EEB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5852160" y="289914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230368" y="3786114"/>
            <a:ext cx="171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Usar NotebookLM para depurar lenguaje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5230368" y="4426194"/>
            <a:ext cx="171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Extraer sinónimos, variantes y términos trampa antes de abrir la base.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7040880" y="2981442"/>
            <a:ext cx="292500" cy="255900"/>
          </a:xfrm>
          <a:prstGeom prst="chevron">
            <a:avLst>
              <a:gd fmla="val 50000" name="adj"/>
            </a:avLst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7452350" y="2643151"/>
            <a:ext cx="1645800" cy="3036000"/>
          </a:xfrm>
          <a:prstGeom prst="roundRect">
            <a:avLst>
              <a:gd fmla="val 14034" name="adj"/>
            </a:avLst>
          </a:prstGeom>
          <a:solidFill>
            <a:srgbClr val="A4C2F4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8046720" y="289914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7424928" y="3786114"/>
            <a:ext cx="171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Probar el string en Scopus o EBSCO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7424928" y="4426194"/>
            <a:ext cx="171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Ajustar campos, filtros y volumen de ruido sin perder la lógica.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9235440" y="2981442"/>
            <a:ext cx="292500" cy="255900"/>
          </a:xfrm>
          <a:prstGeom prst="chevron">
            <a:avLst>
              <a:gd fmla="val 50000" name="adj"/>
            </a:avLst>
          </a:prstGeom>
          <a:solidFill>
            <a:srgbClr val="9CA3AF"/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9646925" y="2643151"/>
            <a:ext cx="1645800" cy="3036000"/>
          </a:xfrm>
          <a:prstGeom prst="roundRect">
            <a:avLst>
              <a:gd fmla="val 15012" name="adj"/>
            </a:avLst>
          </a:prstGeom>
          <a:solidFill>
            <a:srgbClr val="C9DAF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10241280" y="289914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9619488" y="3786114"/>
            <a:ext cx="171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Exportar y registrar</a:t>
            </a:r>
            <a:endParaRPr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9619488" y="4426194"/>
            <a:ext cx="171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Guardar resultados, anotar conteos y llenar la bitácora.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Demostración guiada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Checklist de salida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Mi Protocolo V1 ya expresa una pregunta, un alcance y una lógica de decisión coherentes.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Mi matriz de criterios convierte vaguedades en reglas operativas.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Mi string maestro ya está armado por bloques y con sinónimos controlados.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Ya probé o se cómo probar NotebookLM para revisar variantes, ambigüedades y términos trampa.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-US"/>
              <a:t>Mi bitácora ya puede registrar una búsqueda real en Scopus, EBSCO u otra fuente prioritaria.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❏"/>
            </a:pPr>
            <a:r>
              <a:rPr lang="en-US"/>
              <a:t>Tengo claro qué voy a exportar para llegar a la siguiente sesión con material preparado.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7570700" y="2155476"/>
            <a:ext cx="3657600" cy="3414900"/>
          </a:xfrm>
          <a:prstGeom prst="roundRect">
            <a:avLst>
              <a:gd fmla="val 9363" name="adj"/>
            </a:avLst>
          </a:prstGeom>
          <a:solidFill>
            <a:schemeClr val="accent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8216300" y="2725025"/>
            <a:ext cx="2366400" cy="22758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14100000" dist="285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0"/>
          </a:p>
        </p:txBody>
      </p:sp>
      <p:sp>
        <p:nvSpPr>
          <p:cNvPr id="193" name="Google Shape;193;p16"/>
          <p:cNvSpPr txBox="1"/>
          <p:nvPr/>
        </p:nvSpPr>
        <p:spPr>
          <a:xfrm>
            <a:off x="6779750" y="2968925"/>
            <a:ext cx="5239500" cy="2031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0">
                <a:solidFill>
                  <a:schemeClr val="dk1"/>
                </a:solidFill>
              </a:rPr>
              <a:t>🗹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