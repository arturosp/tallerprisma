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embeddedFontLst>
    <p:embeddedFont>
      <p:font typeface="Comfortaa SemiBold"/>
      <p:regular r:id="rId13"/>
      <p:bold r:id="rId14"/>
    </p:embeddedFont>
    <p:embeddedFont>
      <p:font typeface="Roboto"/>
      <p:regular r:id="rId15"/>
      <p:bold r:id="rId16"/>
      <p:italic r:id="rId17"/>
      <p:boldItalic r:id="rId18"/>
    </p:embeddedFont>
    <p:embeddedFont>
      <p:font typeface="Comfortaa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mfortaa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ComfortaaSemiBold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regular.fntdata"/><Relationship Id="rId14" Type="http://schemas.openxmlformats.org/officeDocument/2006/relationships/font" Target="fonts/ComfortaaSemiBold-bold.fntdata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slide" Target="slides/slide1.xml"/><Relationship Id="rId19" Type="http://schemas.openxmlformats.org/officeDocument/2006/relationships/font" Target="fonts/Comfortaa-regular.fntdata"/><Relationship Id="rId6" Type="http://schemas.openxmlformats.org/officeDocument/2006/relationships/slide" Target="slides/slide2.xml"/><Relationship Id="rId18" Type="http://schemas.openxmlformats.org/officeDocument/2006/relationships/font" Target="fonts/Robot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d9f8e5dc17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g3d9f8e5dc17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g3d9f8e5dc17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Hoy el foco no es “leer más”, sino decidir mejor y dejar evidencia del proceso.</a:t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dea0070e13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g3dea0070e13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g3dea0070e13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dea0070e13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3dea0070e13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g3dea0070e13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04d45f7f3_0_3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e04d45f7f3_0_3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e04d45f7f3_0_3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dea0070e13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dea0070e13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dea0070e13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ea0070e13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ea0070e13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dea0070e13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ea0070e13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ea0070e13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dea0070e13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 rot="10800000">
            <a:off x="100" y="0"/>
            <a:ext cx="12192000" cy="869700"/>
          </a:xfrm>
          <a:prstGeom prst="round2SameRect">
            <a:avLst>
              <a:gd fmla="val 41362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omfortaa"/>
              <a:buNone/>
              <a:defRPr b="1" sz="25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317500" y="1312325"/>
            <a:ext cx="5884200" cy="51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  <a:defRPr sz="1800"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libri"/>
              <a:buChar char="○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libri"/>
              <a:buChar char="■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libri"/>
              <a:buChar char="●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libri"/>
              <a:buChar char="○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libri"/>
              <a:buChar char="■"/>
              <a:defRPr sz="1800"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libri"/>
              <a:buChar char="●"/>
              <a:defRPr sz="1800"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libri"/>
              <a:buChar char="○"/>
              <a:defRPr sz="1800"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Font typeface="Calibri"/>
              <a:buChar char="■"/>
              <a:defRPr sz="18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>
  <p:cSld name="DEFAULT_1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2">
  <p:cSld name="DEFAULT_2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3">
  <p:cSld name="DEFAULT_3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cs.google.com/spreadsheets/d/1e60asyDGB9Uqay3UUjmBEe0SP40OPGp96tkARuPTWqs/edit?usp=sharing" TargetMode="External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google.com/document/d/1obmVIvZPvGDcAMCFHJF6ZEIyuIzyakDQcMrLTJ3FgqI/edit?usp=sharing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6"/>
          <p:cNvSpPr/>
          <p:nvPr/>
        </p:nvSpPr>
        <p:spPr>
          <a:xfrm>
            <a:off x="548640" y="1645920"/>
            <a:ext cx="11094300" cy="3291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914400" y="2057400"/>
            <a:ext cx="103629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i="0" lang="en-US" sz="4000" u="none" cap="none" strike="noStrike">
                <a:solidFill>
                  <a:srgbClr val="FFFFFF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Taller: Revisiones sistemáticas con PRISMA (y bibliometría)</a:t>
            </a:r>
            <a:endParaRPr i="0" sz="4000" u="none" cap="none" strike="noStrike">
              <a:solidFill>
                <a:schemeClr val="dk1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  <p:sp>
        <p:nvSpPr>
          <p:cNvPr id="25" name="Google Shape;25;p6"/>
          <p:cNvSpPr/>
          <p:nvPr/>
        </p:nvSpPr>
        <p:spPr>
          <a:xfrm>
            <a:off x="914400" y="3566160"/>
            <a:ext cx="10362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600"/>
              <a:buFont typeface="Calibri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Sesión </a:t>
            </a: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Revisión a texto completo, extracción y bibliometría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6"/>
          <p:cNvSpPr txBox="1"/>
          <p:nvPr/>
        </p:nvSpPr>
        <p:spPr>
          <a:xfrm>
            <a:off x="7752700" y="5836675"/>
            <a:ext cx="394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arturo sánchez porras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21/04/2025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7500" y="1312325"/>
            <a:ext cx="5884200" cy="51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Revisar la lista de cotejo de PRISMA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Completar una matriz de extracción mínima con estudios seleccionados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Realizar un análisis bibliométrico básico que complemente la revisión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Integrar todos los productos en un paquete reproducible listo para asesoría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7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Objetivos de la sesión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Revisión a texto completo</a:t>
            </a:r>
            <a:endParaRPr/>
          </a:p>
        </p:txBody>
      </p:sp>
      <p:sp>
        <p:nvSpPr>
          <p:cNvPr id="41" name="Google Shape;41;p8"/>
          <p:cNvSpPr/>
          <p:nvPr/>
        </p:nvSpPr>
        <p:spPr>
          <a:xfrm>
            <a:off x="464624" y="1482100"/>
            <a:ext cx="5710800" cy="48105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Confirmar que el artículo aborda la variable o fenómeno central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Verificar la población, el contexto y el tipo de diseño declarado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Revisar si reporta evidencias o resultados concretos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Decidir: incluir / excluir / duda, con fundamento en tus criterios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Registrar observaciones y notas para la extracción y el reporte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/>
        </p:nvSpPr>
        <p:spPr>
          <a:xfrm>
            <a:off x="263775" y="1482100"/>
            <a:ext cx="4631700" cy="12294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Referencia (autor, año, título)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País o ciudad y contexto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del estudio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9"/>
          <p:cNvSpPr/>
          <p:nvPr/>
        </p:nvSpPr>
        <p:spPr>
          <a:xfrm>
            <a:off x="263775" y="2985088"/>
            <a:ext cx="4631700" cy="1229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diseño (cualitativo, cuantitativo, mixto)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Población/unidad de análisis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Variables o dimensiones principales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9"/>
          <p:cNvSpPr/>
          <p:nvPr/>
        </p:nvSpPr>
        <p:spPr>
          <a:xfrm>
            <a:off x="263775" y="4488088"/>
            <a:ext cx="4631700" cy="1229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Hallazgos relevantes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Observaciones metodológicas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9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Matriz de extracción mínima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" name="Google Shape;51;p9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9525" y="2313200"/>
            <a:ext cx="6991727" cy="27857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Lista de cotejo PRISMA</a:t>
            </a:r>
            <a:endParaRPr/>
          </a:p>
        </p:txBody>
      </p:sp>
      <p:pic>
        <p:nvPicPr>
          <p:cNvPr id="58" name="Google Shape;58;p1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0138" y="1272750"/>
            <a:ext cx="99917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Bibliometría básica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" name="Google Shape;65;p11"/>
          <p:cNvGrpSpPr/>
          <p:nvPr/>
        </p:nvGrpSpPr>
        <p:grpSpPr>
          <a:xfrm>
            <a:off x="9165137" y="2552309"/>
            <a:ext cx="2751931" cy="4290359"/>
            <a:chOff x="6874025" y="1189775"/>
            <a:chExt cx="2064000" cy="3217850"/>
          </a:xfrm>
        </p:grpSpPr>
        <p:sp>
          <p:nvSpPr>
            <p:cNvPr id="66" name="Google Shape;66;p11"/>
            <p:cNvSpPr/>
            <p:nvPr/>
          </p:nvSpPr>
          <p:spPr>
            <a:xfrm>
              <a:off x="6874025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D9D2E9"/>
            </a:solidFill>
            <a:ln>
              <a:noFill/>
            </a:ln>
            <a:effectLst>
              <a:outerShdw blurRad="71438" rotWithShape="0" algn="bl" dir="2700000" dist="47625">
                <a:srgbClr val="000000">
                  <a:alpha val="50000"/>
                </a:srgbClr>
              </a:outerShdw>
            </a:effectLst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Interpretación</a:t>
              </a:r>
              <a:endParaRPr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" name="Google Shape;67;p11"/>
            <p:cNvSpPr txBox="1"/>
            <p:nvPr/>
          </p:nvSpPr>
          <p:spPr>
            <a:xfrm>
              <a:off x="71838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latin typeface="Roboto"/>
                  <a:ea typeface="Roboto"/>
                  <a:cs typeface="Roboto"/>
                  <a:sym typeface="Roboto"/>
                </a:rPr>
                <a:t>Buscar tendencias y vacíos que puedan enriquecer tu propia revisión</a:t>
              </a:r>
              <a:endParaRPr sz="15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8" name="Google Shape;68;p11"/>
          <p:cNvGrpSpPr/>
          <p:nvPr/>
        </p:nvGrpSpPr>
        <p:grpSpPr>
          <a:xfrm>
            <a:off x="6926960" y="2552309"/>
            <a:ext cx="2751931" cy="4290359"/>
            <a:chOff x="5195350" y="1189775"/>
            <a:chExt cx="2064000" cy="3217850"/>
          </a:xfrm>
        </p:grpSpPr>
        <p:sp>
          <p:nvSpPr>
            <p:cNvPr id="69" name="Google Shape;69;p11"/>
            <p:cNvSpPr/>
            <p:nvPr/>
          </p:nvSpPr>
          <p:spPr>
            <a:xfrm>
              <a:off x="5195350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9FC5E8"/>
            </a:solidFill>
            <a:ln>
              <a:noFill/>
            </a:ln>
            <a:effectLst>
              <a:outerShdw blurRad="71438" rotWithShape="0" algn="bl" dir="2700000" dist="47625">
                <a:srgbClr val="000000">
                  <a:alpha val="50000"/>
                </a:srgbClr>
              </a:outerShdw>
            </a:effectLst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Visualización</a:t>
              </a:r>
              <a:endParaRPr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0" name="Google Shape;70;p11"/>
            <p:cNvSpPr txBox="1"/>
            <p:nvPr/>
          </p:nvSpPr>
          <p:spPr>
            <a:xfrm>
              <a:off x="54616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latin typeface="Roboto"/>
                  <a:ea typeface="Roboto"/>
                  <a:cs typeface="Roboto"/>
                  <a:sym typeface="Roboto"/>
                </a:rPr>
                <a:t>Visualizar redes de co-ocurrencia y co-citación</a:t>
              </a:r>
              <a:endParaRPr sz="15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1" name="Google Shape;71;p11"/>
          <p:cNvGrpSpPr/>
          <p:nvPr/>
        </p:nvGrpSpPr>
        <p:grpSpPr>
          <a:xfrm>
            <a:off x="4688882" y="2552309"/>
            <a:ext cx="2751931" cy="4290359"/>
            <a:chOff x="3516750" y="1189775"/>
            <a:chExt cx="2064000" cy="3217850"/>
          </a:xfrm>
        </p:grpSpPr>
        <p:sp>
          <p:nvSpPr>
            <p:cNvPr id="72" name="Google Shape;72;p11"/>
            <p:cNvSpPr/>
            <p:nvPr/>
          </p:nvSpPr>
          <p:spPr>
            <a:xfrm>
              <a:off x="3516750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6D9EEB"/>
            </a:solidFill>
            <a:ln>
              <a:noFill/>
            </a:ln>
            <a:effectLst>
              <a:outerShdw blurRad="71438" rotWithShape="0" algn="bl" dir="2700000" dist="47625">
                <a:srgbClr val="000000">
                  <a:alpha val="50000"/>
                </a:srgbClr>
              </a:outerShdw>
            </a:effectLst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Cálculos</a:t>
              </a:r>
              <a:endParaRPr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" name="Google Shape;73;p11"/>
            <p:cNvSpPr txBox="1"/>
            <p:nvPr/>
          </p:nvSpPr>
          <p:spPr>
            <a:xfrm>
              <a:off x="37394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latin typeface="Roboto"/>
                  <a:ea typeface="Roboto"/>
                  <a:cs typeface="Roboto"/>
                  <a:sym typeface="Roboto"/>
                </a:rPr>
                <a:t>Calcular indicadores usando Bibliometrix</a:t>
              </a:r>
              <a:br>
                <a:rPr lang="en-US" sz="1500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1500">
                  <a:latin typeface="Roboto"/>
                  <a:ea typeface="Roboto"/>
                  <a:cs typeface="Roboto"/>
                  <a:sym typeface="Roboto"/>
                </a:rPr>
                <a:t>Revisar autores, revistas, tópicos, años, etc.</a:t>
              </a:r>
              <a:endParaRPr sz="15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4" name="Google Shape;74;p11"/>
          <p:cNvGrpSpPr/>
          <p:nvPr/>
        </p:nvGrpSpPr>
        <p:grpSpPr>
          <a:xfrm>
            <a:off x="2451039" y="2552309"/>
            <a:ext cx="2751931" cy="4290359"/>
            <a:chOff x="1838325" y="1189775"/>
            <a:chExt cx="2064000" cy="3217850"/>
          </a:xfrm>
        </p:grpSpPr>
        <p:sp>
          <p:nvSpPr>
            <p:cNvPr id="75" name="Google Shape;75;p11"/>
            <p:cNvSpPr/>
            <p:nvPr/>
          </p:nvSpPr>
          <p:spPr>
            <a:xfrm>
              <a:off x="1838325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45818E"/>
            </a:solidFill>
            <a:ln>
              <a:noFill/>
            </a:ln>
            <a:effectLst>
              <a:outerShdw blurRad="71438" rotWithShape="0" algn="bl" dir="2700000" dist="47625">
                <a:srgbClr val="000000">
                  <a:alpha val="50000"/>
                </a:srgbClr>
              </a:outerShdw>
            </a:effectLst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Limpieza</a:t>
              </a:r>
              <a:endParaRPr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6" name="Google Shape;76;p11"/>
            <p:cNvSpPr txBox="1"/>
            <p:nvPr/>
          </p:nvSpPr>
          <p:spPr>
            <a:xfrm>
              <a:off x="20172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latin typeface="Roboto"/>
                  <a:ea typeface="Roboto"/>
                  <a:cs typeface="Roboto"/>
                  <a:sym typeface="Roboto"/>
                </a:rPr>
                <a:t>Limpiar y normalizar autores, instituciones y palabras clave</a:t>
              </a:r>
              <a:endParaRPr sz="15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7" name="Google Shape;77;p11"/>
          <p:cNvGrpSpPr/>
          <p:nvPr/>
        </p:nvGrpSpPr>
        <p:grpSpPr>
          <a:xfrm>
            <a:off x="0" y="2552594"/>
            <a:ext cx="2952726" cy="4290074"/>
            <a:chOff x="0" y="1189989"/>
            <a:chExt cx="2214600" cy="3217636"/>
          </a:xfrm>
        </p:grpSpPr>
        <p:sp>
          <p:nvSpPr>
            <p:cNvPr id="78" name="Google Shape;78;p11"/>
            <p:cNvSpPr/>
            <p:nvPr/>
          </p:nvSpPr>
          <p:spPr>
            <a:xfrm>
              <a:off x="0" y="1189989"/>
              <a:ext cx="2214600" cy="669000"/>
            </a:xfrm>
            <a:prstGeom prst="homePlate">
              <a:avLst>
                <a:gd fmla="val 50000" name="adj"/>
              </a:avLst>
            </a:prstGeom>
            <a:solidFill>
              <a:srgbClr val="6AA84F"/>
            </a:solidFill>
            <a:ln>
              <a:noFill/>
            </a:ln>
            <a:effectLst>
              <a:outerShdw blurRad="71438" rotWithShape="0" algn="bl" dir="2700000" dist="47625">
                <a:srgbClr val="000000">
                  <a:alpha val="50000"/>
                </a:srgbClr>
              </a:outerShdw>
            </a:effectLst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Importación</a:t>
              </a:r>
              <a:endParaRPr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9" name="Google Shape;79;p11"/>
            <p:cNvSpPr txBox="1"/>
            <p:nvPr/>
          </p:nvSpPr>
          <p:spPr>
            <a:xfrm>
              <a:off x="2950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latin typeface="Roboto"/>
                  <a:ea typeface="Roboto"/>
                  <a:cs typeface="Roboto"/>
                  <a:sym typeface="Roboto"/>
                </a:rPr>
                <a:t>Los metadatos deben venir (preferentemente) de una base de datos como Scopus, Web of Science, etc. </a:t>
              </a:r>
              <a:endParaRPr sz="15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Actividad integradora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2"/>
          <p:cNvSpPr txBox="1"/>
          <p:nvPr>
            <p:ph idx="1" type="body"/>
          </p:nvPr>
        </p:nvSpPr>
        <p:spPr>
          <a:xfrm>
            <a:off x="317500" y="1312325"/>
            <a:ext cx="5884200" cy="51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Selecciona 2–3 artículos que pasaron el screening y revisa el texto completo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Completa la matriz de extracción mínima para cada uno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Registra razones de exclusión para los que no pasan esta etapa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Actualiza tu flujo PRISMA con los conteos preliminares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Importa tu corpus depurado a biblioshiny y explora indicadores básicos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/>
              <a:t>Discute en pequeños grupos: qué aprendiste del proceso y cómo se complementan la extracción y la bibliometría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Cierre y siguientes pasos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3"/>
          <p:cNvSpPr txBox="1"/>
          <p:nvPr>
            <p:ph idx="1" type="body"/>
          </p:nvPr>
        </p:nvSpPr>
        <p:spPr>
          <a:xfrm>
            <a:off x="317500" y="1312325"/>
            <a:ext cx="5884200" cy="51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Completa la revisión a texto completo y la extracción de datos de tu corpus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Mantén actualizado el flujo PRISMA con conteos y razones de exclusión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Refina tu análisis bibliométrico y relaciona hallazgos con tu revisión sistemática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Integra todos los productos (protocolo, bitácora, PRISMA, extracción, bibliometría) en un paquete reproducible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Agenda reunión con tu asesor para revisar el paquete y planificar la fase de síntesis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/>
              <a:t>Celebra tu avance: has consolidado una base sólida para tu tesis o proyecto de investigación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