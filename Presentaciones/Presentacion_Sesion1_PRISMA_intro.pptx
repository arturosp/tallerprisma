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embeddedFontLst>
    <p:embeddedFont>
      <p:font typeface="Comfortaa SemiBold"/>
      <p:regular r:id="rId25"/>
      <p:bold r:id="rId26"/>
    </p:embeddedFont>
    <p:embeddedFont>
      <p:font typeface="Comforta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mfortaaSemiBold-bold.fntdata"/><Relationship Id="rId25" Type="http://schemas.openxmlformats.org/officeDocument/2006/relationships/font" Target="fonts/ComfortaaSemiBold-regular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kwk0EP8mmBUM89FOU7f8olQd9Q8qvQw1GAuLoOg8VHw/edit?usp=sharing" TargetMode="External"/><Relationship Id="rId3" Type="http://schemas.openxmlformats.org/officeDocument/2006/relationships/hyperlink" Target="https://docs.google.com/document/d/1vql_2HpF95pQ2vwKJ6gN019mAKqW467Hl2i6G4lDlog/edit?usp=sharing" TargetMode="External"/><Relationship Id="rId4" Type="http://schemas.openxmlformats.org/officeDocument/2006/relationships/hyperlink" Target="https://docs.google.com/document/d/1O38nPOU4_Rz6w3fB1pu5F0VA_mWKmrsFSpJu89XAd5w/edit?usp=sharing" TargetMode="External"/><Relationship Id="rId5" Type="http://schemas.openxmlformats.org/officeDocument/2006/relationships/hyperlink" Target="https://docs.google.com/document/d/1CaAu8ElDLheHW5T13Hgxxg3rT1BDpxs0QcE2dBFphYQ/edit?usp=sharing" TargetMode="External"/><Relationship Id="rId6" Type="http://schemas.openxmlformats.org/officeDocument/2006/relationships/hyperlink" Target="https://docs.google.com/document/d/1Tfug07ODeoanRapCofCSpXdM1fWCFqDbJjmoESAbp-I/edit?usp=sharing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Nota: PRISMA guía el reporte de revisiones; no sustituye decisiones metodológicas (p. ej., síntesis o evaluación de sesgo).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e5c62826d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ce5c62826d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ce5c62826d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e5c62826d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e5c62826d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ce5c62826d_0_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Idea clave: no es “mejor/peor”, sino “adecuada al objetivo” (la diferencia central es la trazabilidad del método).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Regla práctica: a mayor necesidad de decisión defendible, más valor tiene una revisión sistemática.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Regla práctica: elige el marco según el tipo de evidencia esperada (cuantitativa vs cualitativa) y el objetivo de la revisión.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PCC es útil para delimitar qué se mapeará y en qué contexto; SPICE para comparar alternativas en escenarios reales y evaluar impactos prácticos</a:t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 el taller, cada participante adaptará el marco a su tema (puede haber temas repetidos).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e5c62826d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e5c62826d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PCC: ¿Qué hay y cómo se organiza el campo, en qué contexto?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PICO: ¿Qué efecto tiene X vs Y sobre un resultado medible?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PEO: ¿Cómo se vive/percibe X y qué impactos tiene?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SPIDER: ¿Qué dicen estudios cualitativos/mixtos (por diseño) sobre experiencias/ barreras/ facilitadores?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SPICE: ¿Qué funciona mejor en un escenario concreto y cómo se evalúa en la práctica?</a:t>
            </a:r>
            <a:endParaRPr/>
          </a:p>
        </p:txBody>
      </p:sp>
      <p:sp>
        <p:nvSpPr>
          <p:cNvPr id="155" name="Google Shape;155;g3ce5c62826d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e5c62826d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e5c62826d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PRISMA (Preferred Reporting Items for Systematic Reviews and Meta-Analyses) es una guía de reporte para revisiones sistemáticas (y meta-análisis).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 objetivo es asegurar transparencia y trazabilidad: que otras personas puedan entender qué hiciste, cómo y por qué.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PRISMA no es el método de la revisión en sí; es el estándar para reportarla de forma completa y clara.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Ayuda a documentar decisiones clave: búsqueda, cribado/selección, elegibilidad, inclusión y síntesis.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Incluye una lista de verificación (checklist) y el diagrama de flujo que resume cuántos registros entran/salen y las razones de exclusión.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conjunto, PRISMA reduce ambigüedades y facilita evaluar la calidad y posibles sesgos del proceso de revisión.</a:t>
            </a:r>
            <a:endParaRPr/>
          </a:p>
        </p:txBody>
      </p:sp>
      <p:sp>
        <p:nvSpPr>
          <p:cNvPr id="162" name="Google Shape;162;g3ce5c62826d_0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Regla de oro: cada exclusión debe tener una razón documentada (para auditabilidad y reporte).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e5c62826d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e5c62826d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e5c62826d_0_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Plantillas oficiales del diagrama PRISMA 2020 están disponibles en prisma-statement.org (licencia CC BY 4.0).</a:t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El producto de esta actividad alimenta el “paquete reproducible” (se refina en Sesión 2 con el protocolo).</a:t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e5c62826d_0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e5c62826d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extracto1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https://docs.google.com/document/d/1kwk0EP8mmBUM89FOU7f8olQd9Q8qvQw1GAuLoOg8VHw/edit?usp=sharing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extracto 2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https://docs.google.com/document/d/1vql_2HpF95pQ2vwKJ6gN019mAKqW467Hl2i6G4lDlog/edit?usp=sharing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extracto 3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https://docs.google.com/document/d/1O38nPOU4_Rz6w3fB1pu5F0VA_mWKmrsFSpJu89XAd5w/edit?usp=sharing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extracto 4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https://docs.google.com/document/d/1CaAu8ElDLheHW5T13Hgxxg3rT1BDpxs0QcE2dBFphYQ/edit?usp=sharing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extracto 5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https://docs.google.com/document/d/1Tfug07ODeoanRapCofCSpXdM1fWCFqDbJjmoESAbp-I/edit?usp=sharing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Pídeles distinguir entre “estructura de método” y “reproducibilidad real”. Muchos textos “parecen” sistemáticos por su retórica.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Resalta 3 señales rojas transversales: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Criterios vagos (“relevante”, “calidad suficiente”, “representatividad”).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Cambios no documentados (periodo, términos, rondas de búsqueda).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Excepciones (“fundacionales”, “muy citados”, “sin texto completo”) sin regla y sin cuantificación.</a:t>
            </a:r>
            <a:endParaRPr/>
          </a:p>
        </p:txBody>
      </p:sp>
      <p:sp>
        <p:nvSpPr>
          <p:cNvPr id="237" name="Google Shape;237;g3ce5c62826d_0_3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e5c62826d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e5c62826d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tu criterio no se puede decidir con sí/no leyendo título/resumen o texto completo, no es criterio: hay que operacionalizarlo</a:t>
            </a:r>
            <a:endParaRPr/>
          </a:p>
        </p:txBody>
      </p:sp>
      <p:sp>
        <p:nvSpPr>
          <p:cNvPr id="245" name="Google Shape;245;g3ce5c62826d_0_3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Siguiente sesión: pregunta estructurada + esqueleto de protocolo (criterios, variables y plan de extracción).</a:t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10800000">
            <a:off x="100" y="0"/>
            <a:ext cx="12192000" cy="869700"/>
          </a:xfrm>
          <a:prstGeom prst="round2SameRect">
            <a:avLst>
              <a:gd fmla="val 4136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mfortaa"/>
              <a:buNone/>
              <a:defRPr b="1" sz="2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i.org/10.1136/bmj.n71" TargetMode="External"/><Relationship Id="rId4" Type="http://schemas.openxmlformats.org/officeDocument/2006/relationships/hyperlink" Target="https://doi.org/10.7326/M18-08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1645920"/>
            <a:ext cx="11094415" cy="32918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" y="2057400"/>
            <a:ext cx="1036289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i="0" lang="en-US" sz="4000" u="none" cap="none" strike="noStrike">
                <a:solidFill>
                  <a:srgbClr val="FFFF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Taller: Revisiones sistemáticas con PRISMA (y bibliometría)</a:t>
            </a:r>
            <a:endParaRPr i="0" sz="4000" u="none" cap="none" strike="noStrik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4400" y="3566160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1: PRI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SMA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7752700" y="5836675"/>
            <a:ext cx="39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arturo sánchez porras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10/03/2025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Objetivos de la sesión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317500" y="1345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Distinguir </a:t>
            </a:r>
            <a:r>
              <a:rPr b="1" lang="en-US"/>
              <a:t>revisión narrativa vs. revisión sistemática</a:t>
            </a:r>
            <a:r>
              <a:rPr lang="en-US"/>
              <a:t> (propósito, método, sesgos y reproducibilidad).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Diferenciar </a:t>
            </a:r>
            <a:r>
              <a:rPr b="1" lang="en-US"/>
              <a:t>alcance y propósito</a:t>
            </a:r>
            <a:r>
              <a:rPr lang="en-US"/>
              <a:t>: revisión sistemática vs. scoping review.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Traducir un tema en una </a:t>
            </a:r>
            <a:r>
              <a:rPr b="1" lang="en-US"/>
              <a:t>pregunta investigable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Comprender </a:t>
            </a:r>
            <a:r>
              <a:rPr b="1" lang="en-US"/>
              <a:t>PRISMA como estándar</a:t>
            </a:r>
            <a:r>
              <a:rPr lang="en-US"/>
              <a:t> de reporte y transparencia del proceso.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Leer y explicar la lógica del diagrama de flujo PRISMA (identificación → cribado → elegibilidad → inclusión).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hace confiable a una revisión de literatura?</a:t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410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ctr" bIns="99175" lIns="99175" spcFirstLastPara="1" rIns="99175" wrap="square" tIns="9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3509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ctr" bIns="99175" lIns="99175" spcFirstLastPara="1" rIns="99175" wrap="square" tIns="9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2608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ctr" bIns="99175" lIns="99175" spcFirstLastPara="1" rIns="99175" wrap="square" tIns="9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9170699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ctr" bIns="99175" lIns="99175" spcFirstLastPara="1" rIns="99175" wrap="square" tIns="9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67175" y="1517650"/>
            <a:ext cx="22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Reproducibilidad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635079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Sesgo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581826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Exhaustividad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443906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hace confiable a una revisión de literatura?</a:t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410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b" bIns="99175" lIns="99175" spcFirstLastPara="1" rIns="99175" wrap="square" tIns="9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se pueda replicar la búsqueda y obtener un conjunto similar de resultados.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expliquen exactamente qué bases de datos usaron y cuándo buscaron.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publiquen la estrategia de búsqueda (términos, operadores, filtros).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tengan un protocolo (o plan) previo y coherente con lo que hicieron.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describan el proceso paso a paso (cómo seleccionaron, extrajeron y sintetizaron).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33509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b" bIns="99175" lIns="99175" spcFirstLastPara="1" rIns="99175" wrap="square" tIns="9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no elijan artículos “a conveniencia” o solo los que apoyan su postura.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definan criterios de inclusión/exclusión antes y no los cambien para que salga lo que quieren.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consideren sesgos de idioma (no solo en inglés, o justificarlo).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no excluyan evidencia por razones arbitrarias (p. ej., “no me gustó el enfoque”).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reporten limitaciones y posibles fuentes de sesgo (publicación, selección, etc.)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260800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b" bIns="99175" lIns="99175" spcFirstLastPara="1" rIns="99175" wrap="square" tIns="9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busquen en más de una base de datos (no solo Google Scholar).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incluyan sinónimos, términos relacionados y variantes.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revisen referencias de artículos clave y estudios relacionados (snowballing).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consideren literatura gris cuando es relevante (informes, tesis, documentos técnicos).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definan un rango temporal razonable y lo justifiquen.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170699" y="1291175"/>
            <a:ext cx="2711700" cy="53763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37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7557" rotWithShape="0" algn="bl" dir="2700000" dist="13778">
              <a:srgbClr val="000000">
                <a:alpha val="7060"/>
              </a:srgbClr>
            </a:outerShdw>
          </a:effectLst>
        </p:spPr>
        <p:txBody>
          <a:bodyPr anchorCtr="0" anchor="b" bIns="99175" lIns="99175" spcFirstLastPara="1" rIns="99175" wrap="square" tIns="9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indiquen cuántos registros encontraron, cuántos eliminaron por duplicados y por qué.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expliquen razones de exclusión (título/resumen y texto completo).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usen un diagrama de flujo (tipo PRISMA) para ver el ‘camino’ de los estudios.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tengan una bitácora de decisiones (cambios de criterio, ajustes de búsqueda).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conserven y describan los datos de extracción (tabla/matriz) para auditar resultados.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67175" y="1517650"/>
            <a:ext cx="22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Reproducibilidad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635079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Sesgo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581826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Exhaustividad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443906" y="1517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Revisión narrativa vs. revisión sistemática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548650" y="2857499"/>
            <a:ext cx="5455800" cy="3672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777249" y="3072646"/>
            <a:ext cx="4998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narrativa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777249" y="3608338"/>
            <a:ext cx="49986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Objetivo: contextualizar, explicar y sintetizar desde una perspectiva.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Selección de fuentes: no necesariamente exhaustiva; criterios implícitos.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Alta flexibilidad; útil para introducir un campo o discutir teorías.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Riesgo: sesgo de selección y poca reproducibilidad.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187300" y="1280152"/>
            <a:ext cx="5455800" cy="3598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6415888" y="1554480"/>
            <a:ext cx="499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sistemática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415888" y="2011680"/>
            <a:ext cx="4998568" cy="14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Objetivo: responder una pregunta específica con método explícito.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Búsqueda planificada y documentada; criterios de inclusión/exclusión.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Proceso auditable: deduplicación, cribado, extracción y síntesis.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Menor sesgo (si se ejecuta bien) y mayor reproducibilidad.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¿Cuándo conviene cada tipo de revisión?</a:t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731520" y="1188720"/>
            <a:ext cx="10728655" cy="214884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1005840" y="1417320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Elige una revisión narrativa cuando…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1005840" y="1783080"/>
            <a:ext cx="10180015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Buscas construir marco teórico, discutir enfoques y controversias.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El </a:t>
            </a: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es interpretativo o conceptual (no “agotar” evidencia).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Necesitas una síntesis rápida para orientar hipótesis o agenda.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731520" y="3566160"/>
            <a:ext cx="10728655" cy="2514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1005840" y="3794760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Elige una revisión sistemática cuando…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005840" y="4160520"/>
            <a:ext cx="10180015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Hay una pregunta delimitada y necesitas un panorama exhaustivo y replicable.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Requieres justificar decisiones (qué entra/sale) y minimizar sesgos.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Buscas una base sólida para recomendaciones, políticas, guías o meta-análisis.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Alcance y tipos: scoping vs. sistemática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822960" y="1051560"/>
            <a:ext cx="105457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Dos preguntas para decidir: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22960" y="1554480"/>
            <a:ext cx="10545775" cy="10515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¿Tu pregunta está bien delimitada y busca estimar/contrastar evidencia específica?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22960" y="2788920"/>
            <a:ext cx="10545775" cy="10515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1051560" y="3063240"/>
            <a:ext cx="100885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¿Necesitas mapear un campo (conceptos, tipos de evidencia, vacíos) antes de decidir una pregunta estrecha?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22960" y="4160520"/>
            <a:ext cx="5135728" cy="2286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1051560" y="4389120"/>
            <a:ext cx="486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sistemática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1051560" y="4800600"/>
            <a:ext cx="4861408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Pregunta específica.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Criterios estrictos.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Síntesis y (a veces) meta-análisis.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Puede incluir evaluación de sesgo.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6095848" y="4160520"/>
            <a:ext cx="5135728" cy="2286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6324448" y="4389120"/>
            <a:ext cx="486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Scoping review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324448" y="4800600"/>
            <a:ext cx="4861408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Pregunta amplia.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Mapea conceptos y tipos de evidencia.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Identifica vacíos y define agenda.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Útil para decidir si procede una 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un tema a una pregunta investigable</a:t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22960" y="1051560"/>
            <a:ext cx="105457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Marcos útiles para formular preguntas: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822950" y="1600200"/>
            <a:ext cx="3481800" cy="2526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1057494" y="1729104"/>
            <a:ext cx="3012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PICO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057494" y="2012694"/>
            <a:ext cx="3012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(cuantitativo / intervención)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1057494" y="2244721"/>
            <a:ext cx="3012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Población/Problema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Intervención/Exposición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Comparación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Outcome (resultado)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492150" y="1600200"/>
            <a:ext cx="3481800" cy="25263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4726693" y="1729104"/>
            <a:ext cx="3012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4726693" y="2012694"/>
            <a:ext cx="3012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(cualitativo / contexto)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726693" y="2244721"/>
            <a:ext cx="30126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Población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Exposición/Experiencia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Outcome (percepción/resultado)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8161350" y="1600200"/>
            <a:ext cx="3481800" cy="2526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8395894" y="1729104"/>
            <a:ext cx="3012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SPIDER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395894" y="2012694"/>
            <a:ext cx="3012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(cualitativo / mixto)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8395894" y="2244721"/>
            <a:ext cx="30126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Sample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Phenomenon of Interest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Design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Evaluation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Research type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057544" y="4982846"/>
            <a:ext cx="3012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822950" y="4278900"/>
            <a:ext cx="3481800" cy="25263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1057494" y="4407804"/>
            <a:ext cx="3012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1057494" y="4691394"/>
            <a:ext cx="3012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(scoping / mapeo de campo)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8161300" y="4126500"/>
            <a:ext cx="3481800" cy="2678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8395844" y="4255404"/>
            <a:ext cx="30126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Calibri"/>
              <a:buNone/>
            </a:pPr>
            <a:r>
              <a:rPr b="1" lang="en-US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SPICE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8395850" y="4539007"/>
            <a:ext cx="3012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(evaluación aplicada / toma de decisiones)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057544" y="4982846"/>
            <a:ext cx="3012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Población (o unidad de análisis)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Concepto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8395950" y="4897500"/>
            <a:ext cx="3012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Setting (escenario)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Perspective (actores)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Intervention (exposición)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Comparison (comparación)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Criterios de evaluación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Ejemplos rápidos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731525" y="1097277"/>
            <a:ext cx="10728600" cy="9960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960125" y="1211102"/>
            <a:ext cx="10271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PICO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960125" y="1410297"/>
            <a:ext cx="10271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estudiantes universitarios (P), ¿los programas de mentoría entre pares (I) comparados con no intervención (C) mejoran la retención académica (O)?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731525" y="2235531"/>
            <a:ext cx="10728600" cy="9960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960125" y="2349357"/>
            <a:ext cx="10271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960125" y="2548551"/>
            <a:ext cx="10271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docentes de secundaria (P), ¿cómo se experimenta la enseñanza híbrida (E) en términos de percepción de carga laboral y bienestar (O)?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731525" y="3373785"/>
            <a:ext cx="10728600" cy="1081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960125" y="3487611"/>
            <a:ext cx="10271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SPIDER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960125" y="3686805"/>
            <a:ext cx="10271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Muestra: cuidadores informales (S). Fenómeno: apoyo social (PI). Diseño: entrevistas y grupos focales (D). Evaluación: estrés percibido y estrategias (E). Tipo: cualitativo (R).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31700" y="4569223"/>
            <a:ext cx="10728600" cy="996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960300" y="4683049"/>
            <a:ext cx="10271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60300" y="4882243"/>
            <a:ext cx="10271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En programas de inclusión educativa en educación superior (Contexto), ¿qué enfoques y componentes de intervención (Concepto) se han reportado en la literatura y en qué poblaciones o unidades de análisis (P) se han estudiado?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731700" y="5707478"/>
            <a:ext cx="10728600" cy="10812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960300" y="5821303"/>
            <a:ext cx="10271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SPICE</a:t>
            </a: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960300" y="6020498"/>
            <a:ext cx="10271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En cursos universitarios (S), desde la perspectiva de estudiantes y docentes (P), ¿la implementación de aprendizaje híbrido (I) comparada con modalidad presencial tradicional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(C) mejora la participación y el rendimiento percibidos (E)?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marco voy a usar para mi pregunta?</a:t>
            </a:r>
            <a:endParaRPr/>
          </a:p>
        </p:txBody>
      </p:sp>
      <p:pic>
        <p:nvPicPr>
          <p:cNvPr id="158" name="Google Shape;15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0575"/>
            <a:ext cx="12192000" cy="506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PRISMA</a:t>
            </a:r>
            <a:endParaRPr/>
          </a:p>
        </p:txBody>
      </p:sp>
      <p:pic>
        <p:nvPicPr>
          <p:cNvPr id="165" name="Google Shape;1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625" y="1161525"/>
            <a:ext cx="9556749" cy="5564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3"/>
          <p:cNvSpPr/>
          <p:nvPr/>
        </p:nvSpPr>
        <p:spPr>
          <a:xfrm>
            <a:off x="2995075" y="2921000"/>
            <a:ext cx="6783900" cy="243300"/>
          </a:xfrm>
          <a:prstGeom prst="rect">
            <a:avLst/>
          </a:prstGeom>
          <a:solidFill>
            <a:srgbClr val="1EEDE7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3094550" y="5168900"/>
            <a:ext cx="662400" cy="243300"/>
          </a:xfrm>
          <a:prstGeom prst="rect">
            <a:avLst/>
          </a:prstGeom>
          <a:solidFill>
            <a:srgbClr val="1EEDE7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3094550" y="5691700"/>
            <a:ext cx="891000" cy="243300"/>
          </a:xfrm>
          <a:prstGeom prst="rect">
            <a:avLst/>
          </a:prstGeom>
          <a:solidFill>
            <a:srgbClr val="1EEDE7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3094550" y="5430300"/>
            <a:ext cx="1138800" cy="243300"/>
          </a:xfrm>
          <a:prstGeom prst="rect">
            <a:avLst/>
          </a:prstGeom>
          <a:solidFill>
            <a:srgbClr val="1EEDE7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PRISMA: principios de operación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822960" y="10972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PRISMA es una guía para reportar revisiones con transparencia.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548650" y="1645922"/>
            <a:ext cx="5455800" cy="2238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777240" y="1920240"/>
            <a:ext cx="499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PRISMA SÍ es…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777240" y="2377440"/>
            <a:ext cx="4998568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Checklist de ítems para reportar con claridad.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Marco para documentar decisiones y fuentes.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Base para que otra persona evalúe y replique el proceso.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6187300" y="3888422"/>
            <a:ext cx="5455800" cy="22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6415888" y="4195665"/>
            <a:ext cx="49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PRISMA NO es…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6415888" y="4652865"/>
            <a:ext cx="49986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Un software o plataforma.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Un “método completo” que decide por ti.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Garantía automática de calidad: depende de cómo se ejecute la revisión.</a:t>
            </a:r>
            <a:endParaRPr sz="16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 lógica del flujo PRISMA (visión operativa)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822960" y="1425363"/>
            <a:ext cx="1054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PRISMA “cuenta la historia” del filtro aplicado a la literatura.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22960" y="2305050"/>
            <a:ext cx="2499300" cy="34746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005840" y="2533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Identificación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1005840" y="2990850"/>
            <a:ext cx="2133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Búsquedas en bases/registros + otras fuentes; deduplicación.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3276524" y="3768090"/>
            <a:ext cx="2286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505124" y="2305050"/>
            <a:ext cx="2499300" cy="34746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3688004" y="2533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Cribado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3688004" y="2990850"/>
            <a:ext cx="2133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de título/resumen (y reglas de exclusión) para decidir qué pasa a texto completo.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5958688" y="3768090"/>
            <a:ext cx="2286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6187288" y="2305050"/>
            <a:ext cx="2499300" cy="3474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6370168" y="2533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Elegibilidad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6370168" y="2990850"/>
            <a:ext cx="2133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Lectura de texto completo contra criterios; registrar razones de exclusión.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8640851" y="3768090"/>
            <a:ext cx="2286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8869451" y="2305050"/>
            <a:ext cx="2499300" cy="3474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9052331" y="2533650"/>
            <a:ext cx="213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Inclusión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9052331" y="2990850"/>
            <a:ext cx="2133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Estudios finales incluidos para extracción y síntesis.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checklist PRISMA</a:t>
            </a:r>
            <a:endParaRPr/>
          </a:p>
        </p:txBody>
      </p:sp>
      <p:pic>
        <p:nvPicPr>
          <p:cNvPr id="212" name="Google Shape;2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63" y="1015825"/>
            <a:ext cx="10638676" cy="57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Diagrama PRISMA: ¿qué números se registran?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822950" y="1097252"/>
            <a:ext cx="5453100" cy="13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cada etapa se reportan conteos y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justificaciones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7" title="oo_108833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826" y="1097274"/>
            <a:ext cx="4837224" cy="553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Actividad: del tema a una pregunta + decisiones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822960" y="1097280"/>
            <a:ext cx="10545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Trabajo individual + contraste en parejas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2960" y="1828800"/>
            <a:ext cx="10545775" cy="214884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1097280" y="2057400"/>
            <a:ext cx="999713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Elige tu marco (PICO/PEO/SPIDER/ECLIP</a:t>
            </a: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y redacta una primera versión de la pregunta.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Define 5 criterios preliminares de inclusión y 5 de exclusión.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Escribe 2 supuestos/riesgos (p. ej., dispersión terminológica, sesgo de idioma).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822960" y="4206240"/>
            <a:ext cx="10545775" cy="233172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097280" y="4434840"/>
            <a:ext cx="99971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para contraste en parejas: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1097280" y="4800600"/>
            <a:ext cx="9997135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¿La pregunta es respondible con evidencia disponible (y en tu tiempo)?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¿Qué criterio es el más “débil” y cómo lo defenderías ante tu asesor?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¿Qué parte del flujo PRISMA crees que será más costosa en tu tema?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Actividad: Autopsia metodológica</a:t>
            </a:r>
            <a:endParaRPr/>
          </a:p>
        </p:txBody>
      </p:sp>
      <p:sp>
        <p:nvSpPr>
          <p:cNvPr id="240" name="Google Shape;240;p19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equipos de 4–5.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entrega un texto corto (o extracto) de “revisión” que deben leer y discutir.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Responder a las siguientes preguntas: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¿Se puede reproducir? ¿Qué falta?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¿Dónde aparece sesgo?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¿Qué exigiría PRISMA reportar?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7736425" y="2370675"/>
            <a:ext cx="3587700" cy="32067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¿?</a:t>
            </a:r>
            <a:endParaRPr sz="20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Diseña tu mapa de decisiones</a:t>
            </a:r>
            <a:endParaRPr/>
          </a:p>
        </p:txBody>
      </p:sp>
      <p:sp>
        <p:nvSpPr>
          <p:cNvPr id="248" name="Google Shape;248;p20"/>
          <p:cNvSpPr txBox="1"/>
          <p:nvPr>
            <p:ph idx="1" type="body"/>
          </p:nvPr>
        </p:nvSpPr>
        <p:spPr>
          <a:xfrm>
            <a:off x="317500" y="1047742"/>
            <a:ext cx="56727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(1 línea):</a:t>
            </a:r>
            <a:b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Dejar por escrito las decisiones mínimas que harán tu revisión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defendible, reproducible y trazable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Instrucciones (trabajo individual con plantilla)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Tema y justificación (2–3 líneas)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fenómeno estudiarás y por qué importa? (problema + vacío + valor)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Tipo de revisión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Sistemática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(sintetizar evidencia para responder una pregunta precisa)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Scoping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(mapear el campo, conceptos y vacíos de conocimiento)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Porque: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______________________ (1 frase)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Alcance (Contexto–Periodo–Evidencia)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Contexto/sector/población: __________________________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Periodo: ________ a ________ (o “sin límite” + justificación)</a:t>
            </a:r>
            <a:endParaRPr sz="2000"/>
          </a:p>
        </p:txBody>
      </p:sp>
      <p:sp>
        <p:nvSpPr>
          <p:cNvPr id="249" name="Google Shape;249;p20"/>
          <p:cNvSpPr txBox="1"/>
          <p:nvPr>
            <p:ph idx="1" type="body"/>
          </p:nvPr>
        </p:nvSpPr>
        <p:spPr>
          <a:xfrm>
            <a:off x="6121400" y="1200142"/>
            <a:ext cx="56727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evidencia: 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artículos 		☐ tesis		☐ informes 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cualitativos 	☐ cuantitativos 	☐ mixtos 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otros: ______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Criterios preliminares (mínimo 5 y 5)</a:t>
            </a:r>
            <a:b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Evita criterios vagos (“relevante”, “de calidad”) sin definir.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Incluir si…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 bullets)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xcluir si…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 bullets)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Riesgos previsibles + mitigación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Idioma: ________ → ¿cómo lo manejaré? __________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Dispersión terminológica: ________ → ¿sinónimos/tesauros? ________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Literatura gris: ________ → ¿la incluiré? ¿por qué? ________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Cierre: qué te llevas hoy + tarea opcional (≤ 2 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Checklist de salida: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822960" y="1508760"/>
            <a:ext cx="1054577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Tu primera pregunta redactada.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Mapa de decisiones inicial.</a:t>
            </a:r>
            <a:endParaRPr sz="1800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de salida.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822950" y="4889072"/>
            <a:ext cx="10545900" cy="1281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1097280" y="5117677"/>
            <a:ext cx="999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Tarea para Sesión 2: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097280" y="5483437"/>
            <a:ext cx="99972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Identifica 10–15 artículos “semilla” y anota términos/sinónimos (para búsquedas sistemáticas).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150" y="1357215"/>
            <a:ext cx="16192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Referencias (selección)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11827"/>
                </a:solidFill>
              </a:rPr>
              <a:t>Page, M. J., McKenzie, J. E., Bossuyt, P. M., Boutron, I., Hoffmann, T. C., Mulrow, C. D., et al. (2021). The PRISMA 2020 statement: an updated guideline for reporting systematic reviews. *BMJ, 372*, n71.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https://doi.org/10.1136/bmj.n71</a:t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11827"/>
                </a:solidFill>
              </a:rPr>
              <a:t>PRISMA Statement. (2020). PRISMA 2020 flow diagram templates. https://www.prisma-statement.org/prisma-2020-flow-diagram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11827"/>
                </a:solidFill>
              </a:rPr>
              <a:t>Tricco, A. C., Lillie, E., Zarin, W., O’Brien, K. K., Colquhoun, H., Levac, D., et al. (2018). PRISMA Extension for Scoping Reviews (PRISMA-ScR): Checklist and explanation. *Annals of Internal Medicine, 169*(7), 467–473. </a:t>
            </a:r>
            <a:r>
              <a:rPr lang="en-US" sz="1400" u="sng">
                <a:solidFill>
                  <a:schemeClr val="hlink"/>
                </a:solidFill>
                <a:hlinkClick r:id="rId4"/>
              </a:rPr>
              <a:t>https://doi.org/10.7326/M18-0850</a:t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11827"/>
                </a:solidFill>
              </a:rPr>
              <a:t>PRISMA Statement. (2018). PRISMA-ScR resources. https://www.prisma-statement.org/scoping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