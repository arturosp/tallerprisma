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12192000"/>
  <p:embeddedFontLst>
    <p:embeddedFont>
      <p:font typeface="Comfortaa SemiBold"/>
      <p:regular r:id="rId19"/>
      <p:bold r:id="rId20"/>
    </p:embeddedFont>
    <p:embeddedFont>
      <p:font typeface="Comfortaa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omfortaaSemiBold-bold.fntdata"/><Relationship Id="rId11" Type="http://schemas.openxmlformats.org/officeDocument/2006/relationships/slide" Target="slides/slide7.xml"/><Relationship Id="rId22" Type="http://schemas.openxmlformats.org/officeDocument/2006/relationships/font" Target="fonts/Comfortaa-bold.fntdata"/><Relationship Id="rId10" Type="http://schemas.openxmlformats.org/officeDocument/2006/relationships/slide" Target="slides/slide6.xml"/><Relationship Id="rId21" Type="http://schemas.openxmlformats.org/officeDocument/2006/relationships/font" Target="fonts/Comfortaa-regular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ComfortaaSemiBold-regular.fnt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d9f8e5dc17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g3d9f8e5dc17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g3d9f8e5dc17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Hoy el foco no es “leer más”, sino decidir mejor y dejar evidencia del proceso.</a:t>
            </a:r>
            <a:endParaRPr/>
          </a:p>
        </p:txBody>
      </p:sp>
      <p:sp>
        <p:nvSpPr>
          <p:cNvPr id="31" name="Google Shape;3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" name="Google Shape;3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Es una herramienta de apoyo al screening, no un sustituto del criterio metodológico.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Abstrackr es una herramienta web para screening de citas apoyada en text mining / machine learning y su desempeño es variable según la tarea; la literatura recomienda usarla como apoyo y no como sustituto ciego del juicio del revisor: https://systematicreviewsjournal.biomedcentral.com/articles/10.1186/s13643-020-01324-7 ; https://systematicreviewsjournal.biomedcentral.com/articles/10.1186/s13643-018-0707-8 ; https://systematicreviewsjournal.biomedcentral.com/articles/10.1186/s13643-015-0067-6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d7e18184ce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d7e18184ce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g3d7e18184ce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/>
              <a:t>La calibración es clave: evita empezar el screening masivo con criterios ambiguos.</a:t>
            </a:r>
            <a:endParaRPr/>
          </a:p>
        </p:txBody>
      </p:sp>
      <p:sp>
        <p:nvSpPr>
          <p:cNvPr id="116" name="Google Shape;11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d62cb16154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d62cb16154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d62cb16154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Cómo traducir el avance del cribado al flujo PRISMA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[Sources]</a:t>
            </a:r>
            <a:br>
              <a:rPr lang="en-US"/>
            </a:br>
            <a:r>
              <a:rPr lang="en-US"/>
              <a:t>- El diagrama de flujo PRISMA 2020 representa las fases de identificación, cribado, elegibilidad e inclusión, junto con el número de registros y razones de exclusión: https://www.prisma-statement.org/prisma-2020-flow-diagram</a:t>
            </a:r>
            <a:br>
              <a:rPr lang="en-US"/>
            </a:br>
            <a:r>
              <a:rPr lang="en-US"/>
              <a:t>[/Sources]</a:t>
            </a:r>
            <a:endParaRPr/>
          </a:p>
        </p:txBody>
      </p:sp>
      <p:sp>
        <p:nvSpPr>
          <p:cNvPr id="159" name="Google Shape;15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d9f8e5dc17_0_21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g3d9f8e5dc17_0_21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d9f8e5dc17_0_21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9f8e5dc17_0_25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d9f8e5dc17_0_25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d9f8e5dc17_0_25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9f8e5dc17_0_22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d9f8e5dc17_0_22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d9f8e5dc17_0_22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d9f8e5dc17_0_22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g3d9f8e5dc17_0_22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d9f8e5dc17_0_22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 rot="10800000">
            <a:off x="100" y="0"/>
            <a:ext cx="12192000" cy="869700"/>
          </a:xfrm>
          <a:prstGeom prst="round2SameRect">
            <a:avLst>
              <a:gd fmla="val 41362" name="adj1"/>
              <a:gd fmla="val 0" name="adj2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Comfortaa"/>
              <a:buNone/>
              <a:defRPr b="1" sz="2500">
                <a:solidFill>
                  <a:schemeClr val="lt1"/>
                </a:solidFill>
                <a:latin typeface="Comfortaa"/>
                <a:ea typeface="Comfortaa"/>
                <a:cs typeface="Comfortaa"/>
                <a:sym typeface="Comforta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317500" y="1312325"/>
            <a:ext cx="5884200" cy="51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●"/>
              <a:defRPr sz="1800"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Char char="○"/>
              <a:defRPr sz="1800"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Char char="■"/>
              <a:defRPr sz="1800"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Char char="●"/>
              <a:defRPr sz="1800"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Char char="○"/>
              <a:defRPr sz="1800"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Char char="■"/>
              <a:defRPr sz="1800"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Char char="●"/>
              <a:defRPr sz="1800"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Calibri"/>
              <a:buChar char="○"/>
              <a:defRPr sz="1800"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Font typeface="Calibri"/>
              <a:buChar char="■"/>
              <a:defRPr sz="1800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1">
  <p:cSld name="DEFAULT_1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2">
  <p:cSld name="DEFAULT_2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 3">
  <p:cSld name="DEFAULT_3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arturoSP/TallerPRISMA" TargetMode="External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6"/>
          <p:cNvSpPr/>
          <p:nvPr/>
        </p:nvSpPr>
        <p:spPr>
          <a:xfrm>
            <a:off x="548640" y="1645920"/>
            <a:ext cx="11094300" cy="3291900"/>
          </a:xfrm>
          <a:prstGeom prst="roundRect">
            <a:avLst>
              <a:gd fmla="val 16667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914400" y="2057400"/>
            <a:ext cx="103629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i="0" lang="en-US" sz="4000" u="none" cap="none" strike="noStrike">
                <a:solidFill>
                  <a:srgbClr val="FFFFFF"/>
                </a:solidFill>
                <a:latin typeface="Comfortaa SemiBold"/>
                <a:ea typeface="Comfortaa SemiBold"/>
                <a:cs typeface="Comfortaa SemiBold"/>
                <a:sym typeface="Comfortaa SemiBold"/>
              </a:rPr>
              <a:t>Taller: Revisiones sistemáticas con PRISMA (y bibliometría)</a:t>
            </a:r>
            <a:endParaRPr i="0" sz="4000" u="none" cap="none" strike="noStrike">
              <a:solidFill>
                <a:schemeClr val="dk1"/>
              </a:solidFill>
              <a:latin typeface="Comfortaa SemiBold"/>
              <a:ea typeface="Comfortaa SemiBold"/>
              <a:cs typeface="Comfortaa SemiBold"/>
              <a:sym typeface="Comfortaa SemiBold"/>
            </a:endParaRPr>
          </a:p>
        </p:txBody>
      </p:sp>
      <p:sp>
        <p:nvSpPr>
          <p:cNvPr id="25" name="Google Shape;25;p6"/>
          <p:cNvSpPr/>
          <p:nvPr/>
        </p:nvSpPr>
        <p:spPr>
          <a:xfrm>
            <a:off x="914400" y="3566160"/>
            <a:ext cx="10362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D5DB"/>
              </a:buClr>
              <a:buSzPts val="1600"/>
              <a:buFont typeface="Calibri"/>
              <a:buNone/>
            </a:pP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Sesión </a:t>
            </a: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Cribado con Abstrackr y PRISMA preliminar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6"/>
          <p:cNvSpPr txBox="1"/>
          <p:nvPr/>
        </p:nvSpPr>
        <p:spPr>
          <a:xfrm>
            <a:off x="7752700" y="5836675"/>
            <a:ext cx="3942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arturo sánchez porras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24/03/2025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7500" y="1312325"/>
            <a:ext cx="5884200" cy="51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Comprender qué hace Abstrackr dentro del flujo de una revisión sistemática.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Preparar el corpus antes del cribado: deduplicación, campos mínimos y consistencia básica.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Aplicar criterios de inclusión/exclusión en el screening por título y resumen.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Reconocer y registrar casos frontera de manera explícita.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Traducir el avance del cribado a un esquema preliminar del flujo PRISMA.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7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Objetivos de la sesión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¿Dónde estamos en el flujo del taller?</a:t>
            </a:r>
            <a:endParaRPr/>
          </a:p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317500" y="1312325"/>
            <a:ext cx="5884200" cy="51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En esta sesión cerramos el paso 3, activamos el paso 4 y dejamos en marcha el paso 5 en modo </a:t>
            </a:r>
            <a:r>
              <a:rPr lang="en-US">
                <a:solidFill>
                  <a:schemeClr val="dk1"/>
                </a:solidFill>
              </a:rPr>
              <a:t>preliminar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8"/>
          <p:cNvSpPr/>
          <p:nvPr/>
        </p:nvSpPr>
        <p:spPr>
          <a:xfrm>
            <a:off x="2217227" y="4069114"/>
            <a:ext cx="471300" cy="49200"/>
          </a:xfrm>
          <a:prstGeom prst="roundRect">
            <a:avLst>
              <a:gd fmla="val 50000" name="adj"/>
            </a:avLst>
          </a:prstGeom>
          <a:solidFill>
            <a:srgbClr val="0B713F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grpSp>
        <p:nvGrpSpPr>
          <p:cNvPr id="43" name="Google Shape;43;p8"/>
          <p:cNvGrpSpPr/>
          <p:nvPr/>
        </p:nvGrpSpPr>
        <p:grpSpPr>
          <a:xfrm>
            <a:off x="693150" y="3664749"/>
            <a:ext cx="1747160" cy="2530570"/>
            <a:chOff x="519875" y="1948510"/>
            <a:chExt cx="1310403" cy="1897975"/>
          </a:xfrm>
        </p:grpSpPr>
        <p:sp>
          <p:nvSpPr>
            <p:cNvPr id="44" name="Google Shape;44;p8"/>
            <p:cNvSpPr/>
            <p:nvPr/>
          </p:nvSpPr>
          <p:spPr>
            <a:xfrm>
              <a:off x="877947" y="1948510"/>
              <a:ext cx="594300" cy="594300"/>
            </a:xfrm>
            <a:prstGeom prst="ellipse">
              <a:avLst/>
            </a:prstGeom>
            <a:noFill/>
            <a:ln cap="flat" cmpd="sng" w="50800">
              <a:solidFill>
                <a:srgbClr val="0B713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1438" rotWithShape="0" algn="bl" dir="2700000" dist="47625">
                <a:srgbClr val="000000">
                  <a:alpha val="50000"/>
                </a:srgbClr>
              </a:outerShdw>
            </a:effectLst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8"/>
            <p:cNvSpPr txBox="1"/>
            <p:nvPr/>
          </p:nvSpPr>
          <p:spPr>
            <a:xfrm>
              <a:off x="956697" y="21096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b="1" lang="en-US" sz="1500">
                  <a:solidFill>
                    <a:srgbClr val="0B713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sz="1500">
                <a:solidFill>
                  <a:srgbClr val="0B71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46;p8"/>
            <p:cNvSpPr txBox="1"/>
            <p:nvPr/>
          </p:nvSpPr>
          <p:spPr>
            <a:xfrm>
              <a:off x="519878" y="2652285"/>
              <a:ext cx="1310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0B713F"/>
                  </a:solidFill>
                  <a:latin typeface="Calibri"/>
                  <a:ea typeface="Calibri"/>
                  <a:cs typeface="Calibri"/>
                  <a:sym typeface="Calibri"/>
                </a:rPr>
                <a:t>Pregunta y protocolo</a:t>
              </a:r>
              <a:endParaRPr b="1" sz="1700">
                <a:solidFill>
                  <a:srgbClr val="0B71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47;p8"/>
            <p:cNvSpPr txBox="1"/>
            <p:nvPr/>
          </p:nvSpPr>
          <p:spPr>
            <a:xfrm>
              <a:off x="519875" y="3109085"/>
              <a:ext cx="13104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t/>
              </a:r>
              <a:endParaRPr sz="1500">
                <a:solidFill>
                  <a:srgbClr val="0B71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8" name="Google Shape;48;p8"/>
          <p:cNvGrpSpPr/>
          <p:nvPr/>
        </p:nvGrpSpPr>
        <p:grpSpPr>
          <a:xfrm>
            <a:off x="2465192" y="3664749"/>
            <a:ext cx="1747156" cy="2530570"/>
            <a:chOff x="1848940" y="1948510"/>
            <a:chExt cx="1310400" cy="1897975"/>
          </a:xfrm>
        </p:grpSpPr>
        <p:sp>
          <p:nvSpPr>
            <p:cNvPr id="49" name="Google Shape;49;p8"/>
            <p:cNvSpPr/>
            <p:nvPr/>
          </p:nvSpPr>
          <p:spPr>
            <a:xfrm>
              <a:off x="2206990" y="1948510"/>
              <a:ext cx="594300" cy="594300"/>
            </a:xfrm>
            <a:prstGeom prst="ellipse">
              <a:avLst/>
            </a:prstGeom>
            <a:noFill/>
            <a:ln cap="flat" cmpd="sng" w="50800">
              <a:solidFill>
                <a:srgbClr val="0B713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1438" rotWithShape="0" algn="bl" dir="2700000" dist="47625">
                <a:srgbClr val="000000">
                  <a:alpha val="50000"/>
                </a:srgbClr>
              </a:outerShdw>
            </a:effectLst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50;p8"/>
            <p:cNvSpPr txBox="1"/>
            <p:nvPr/>
          </p:nvSpPr>
          <p:spPr>
            <a:xfrm>
              <a:off x="1848940" y="2652285"/>
              <a:ext cx="1310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0B713F"/>
                  </a:solidFill>
                  <a:latin typeface="Calibri"/>
                  <a:ea typeface="Calibri"/>
                  <a:cs typeface="Calibri"/>
                  <a:sym typeface="Calibri"/>
                </a:rPr>
                <a:t>Búsqueda y bitácora</a:t>
              </a:r>
              <a:endParaRPr b="1" sz="1700">
                <a:solidFill>
                  <a:srgbClr val="0B71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51;p8"/>
            <p:cNvSpPr txBox="1"/>
            <p:nvPr/>
          </p:nvSpPr>
          <p:spPr>
            <a:xfrm>
              <a:off x="1848940" y="3109085"/>
              <a:ext cx="13104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t/>
              </a:r>
              <a:endParaRPr sz="1500">
                <a:solidFill>
                  <a:srgbClr val="0B71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52;p8"/>
            <p:cNvSpPr txBox="1"/>
            <p:nvPr/>
          </p:nvSpPr>
          <p:spPr>
            <a:xfrm>
              <a:off x="2285740" y="21096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b="1" lang="en-US" sz="1500">
                  <a:solidFill>
                    <a:srgbClr val="0B713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1" sz="1500">
                <a:solidFill>
                  <a:srgbClr val="0B71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3" name="Google Shape;53;p8"/>
          <p:cNvGrpSpPr/>
          <p:nvPr/>
        </p:nvGrpSpPr>
        <p:grpSpPr>
          <a:xfrm>
            <a:off x="4237273" y="3664749"/>
            <a:ext cx="1813157" cy="2530569"/>
            <a:chOff x="3178034" y="1948510"/>
            <a:chExt cx="1359902" cy="1897974"/>
          </a:xfrm>
        </p:grpSpPr>
        <p:sp>
          <p:nvSpPr>
            <p:cNvPr id="54" name="Google Shape;54;p8"/>
            <p:cNvSpPr/>
            <p:nvPr/>
          </p:nvSpPr>
          <p:spPr>
            <a:xfrm>
              <a:off x="3560827" y="1948510"/>
              <a:ext cx="594300" cy="594300"/>
            </a:xfrm>
            <a:prstGeom prst="ellipse">
              <a:avLst/>
            </a:prstGeom>
            <a:noFill/>
            <a:ln cap="flat" cmpd="sng" w="50800">
              <a:solidFill>
                <a:srgbClr val="0B713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1438" rotWithShape="0" algn="bl" dir="2700000" dist="47625">
                <a:srgbClr val="000000">
                  <a:alpha val="50000"/>
                </a:srgbClr>
              </a:outerShdw>
            </a:effectLst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55;p8"/>
            <p:cNvSpPr txBox="1"/>
            <p:nvPr/>
          </p:nvSpPr>
          <p:spPr>
            <a:xfrm>
              <a:off x="3178034" y="2652285"/>
              <a:ext cx="13599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0B713F"/>
                  </a:solidFill>
                  <a:latin typeface="Calibri"/>
                  <a:ea typeface="Calibri"/>
                  <a:cs typeface="Calibri"/>
                  <a:sym typeface="Calibri"/>
                </a:rPr>
                <a:t>Abstrackr y screening</a:t>
              </a:r>
              <a:endParaRPr b="1" sz="1700">
                <a:solidFill>
                  <a:srgbClr val="0B71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56;p8"/>
            <p:cNvSpPr txBox="1"/>
            <p:nvPr/>
          </p:nvSpPr>
          <p:spPr>
            <a:xfrm>
              <a:off x="3178036" y="3109084"/>
              <a:ext cx="13599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t/>
              </a:r>
              <a:endParaRPr sz="1500">
                <a:solidFill>
                  <a:srgbClr val="85858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57;p8"/>
            <p:cNvSpPr txBox="1"/>
            <p:nvPr/>
          </p:nvSpPr>
          <p:spPr>
            <a:xfrm>
              <a:off x="3639577" y="21096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b="1" lang="en-US" sz="1500">
                  <a:solidFill>
                    <a:srgbClr val="0B713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sz="1500">
                <a:solidFill>
                  <a:srgbClr val="0B71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" name="Google Shape;58;p8"/>
          <p:cNvGrpSpPr/>
          <p:nvPr/>
        </p:nvGrpSpPr>
        <p:grpSpPr>
          <a:xfrm>
            <a:off x="6076715" y="3664749"/>
            <a:ext cx="1747160" cy="2530570"/>
            <a:chOff x="4557650" y="1948510"/>
            <a:chExt cx="1310403" cy="1897975"/>
          </a:xfrm>
        </p:grpSpPr>
        <p:sp>
          <p:nvSpPr>
            <p:cNvPr id="59" name="Google Shape;59;p8"/>
            <p:cNvSpPr/>
            <p:nvPr/>
          </p:nvSpPr>
          <p:spPr>
            <a:xfrm>
              <a:off x="4915703" y="1948510"/>
              <a:ext cx="594300" cy="594300"/>
            </a:xfrm>
            <a:prstGeom prst="ellipse">
              <a:avLst/>
            </a:prstGeom>
            <a:noFill/>
            <a:ln cap="flat" cmpd="sng" w="50800">
              <a:solidFill>
                <a:srgbClr val="BF9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1438" rotWithShape="0" algn="bl" dir="2700000" dist="47625">
                <a:srgbClr val="000000">
                  <a:alpha val="50000"/>
                </a:srgbClr>
              </a:outerShdw>
            </a:effectLst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8"/>
            <p:cNvSpPr txBox="1"/>
            <p:nvPr/>
          </p:nvSpPr>
          <p:spPr>
            <a:xfrm>
              <a:off x="4557650" y="2652285"/>
              <a:ext cx="13104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BF9000"/>
                  </a:solidFill>
                  <a:latin typeface="Calibri"/>
                  <a:ea typeface="Calibri"/>
                  <a:cs typeface="Calibri"/>
                  <a:sym typeface="Calibri"/>
                </a:rPr>
                <a:t>Revisión de texto completo</a:t>
              </a:r>
              <a:endParaRPr b="1" sz="17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61;p8"/>
            <p:cNvSpPr txBox="1"/>
            <p:nvPr/>
          </p:nvSpPr>
          <p:spPr>
            <a:xfrm>
              <a:off x="4557653" y="3109085"/>
              <a:ext cx="13104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t/>
              </a:r>
              <a:endParaRPr sz="15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8"/>
            <p:cNvSpPr txBox="1"/>
            <p:nvPr/>
          </p:nvSpPr>
          <p:spPr>
            <a:xfrm>
              <a:off x="4994453" y="21096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b="1" lang="en-US" sz="1500">
                  <a:solidFill>
                    <a:srgbClr val="BF9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1" sz="15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" name="Google Shape;63;p8"/>
          <p:cNvGrpSpPr/>
          <p:nvPr/>
        </p:nvGrpSpPr>
        <p:grpSpPr>
          <a:xfrm>
            <a:off x="7850204" y="3664749"/>
            <a:ext cx="1813162" cy="2530570"/>
            <a:chOff x="5887800" y="1948510"/>
            <a:chExt cx="1359905" cy="1897975"/>
          </a:xfrm>
        </p:grpSpPr>
        <p:sp>
          <p:nvSpPr>
            <p:cNvPr id="64" name="Google Shape;64;p8"/>
            <p:cNvSpPr/>
            <p:nvPr/>
          </p:nvSpPr>
          <p:spPr>
            <a:xfrm>
              <a:off x="6270606" y="1948510"/>
              <a:ext cx="594300" cy="594300"/>
            </a:xfrm>
            <a:prstGeom prst="ellipse">
              <a:avLst/>
            </a:prstGeom>
            <a:noFill/>
            <a:ln cap="flat" cmpd="sng" w="50800">
              <a:solidFill>
                <a:srgbClr val="BF900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1438" rotWithShape="0" algn="bl" dir="2700000" dist="47625">
                <a:srgbClr val="000000">
                  <a:alpha val="50000"/>
                </a:srgbClr>
              </a:outerShdw>
            </a:effectLst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" name="Google Shape;65;p8"/>
            <p:cNvSpPr txBox="1"/>
            <p:nvPr/>
          </p:nvSpPr>
          <p:spPr>
            <a:xfrm>
              <a:off x="5887800" y="2652285"/>
              <a:ext cx="13599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BF9000"/>
                  </a:solidFill>
                  <a:latin typeface="Calibri"/>
                  <a:ea typeface="Calibri"/>
                  <a:cs typeface="Calibri"/>
                  <a:sym typeface="Calibri"/>
                </a:rPr>
                <a:t>PRISMA preliminar</a:t>
              </a:r>
              <a:endParaRPr b="1" sz="17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6" name="Google Shape;66;p8"/>
            <p:cNvSpPr txBox="1"/>
            <p:nvPr/>
          </p:nvSpPr>
          <p:spPr>
            <a:xfrm>
              <a:off x="5887806" y="3109085"/>
              <a:ext cx="13599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t/>
              </a:r>
              <a:endParaRPr sz="15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7" name="Google Shape;67;p8"/>
            <p:cNvSpPr txBox="1"/>
            <p:nvPr/>
          </p:nvSpPr>
          <p:spPr>
            <a:xfrm>
              <a:off x="6349356" y="21096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b="1" lang="en-US" sz="1500">
                  <a:solidFill>
                    <a:srgbClr val="BF9000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sz="1500">
                <a:solidFill>
                  <a:srgbClr val="BF9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8" name="Google Shape;68;p8"/>
          <p:cNvGrpSpPr/>
          <p:nvPr/>
        </p:nvGrpSpPr>
        <p:grpSpPr>
          <a:xfrm>
            <a:off x="9685375" y="3664749"/>
            <a:ext cx="1813162" cy="2530570"/>
            <a:chOff x="7264213" y="1948510"/>
            <a:chExt cx="1359905" cy="1897975"/>
          </a:xfrm>
        </p:grpSpPr>
        <p:sp>
          <p:nvSpPr>
            <p:cNvPr id="69" name="Google Shape;69;p8"/>
            <p:cNvSpPr/>
            <p:nvPr/>
          </p:nvSpPr>
          <p:spPr>
            <a:xfrm>
              <a:off x="7647018" y="1948510"/>
              <a:ext cx="594300" cy="594300"/>
            </a:xfrm>
            <a:prstGeom prst="ellipse">
              <a:avLst/>
            </a:prstGeom>
            <a:noFill/>
            <a:ln cap="flat" cmpd="sng" w="50800">
              <a:solidFill>
                <a:srgbClr val="E69138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1438" rotWithShape="0" algn="bl" dir="2700000" dist="47625">
                <a:srgbClr val="000000">
                  <a:alpha val="50000"/>
                </a:srgbClr>
              </a:outerShdw>
            </a:effectLst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0" name="Google Shape;70;p8"/>
            <p:cNvSpPr txBox="1"/>
            <p:nvPr/>
          </p:nvSpPr>
          <p:spPr>
            <a:xfrm>
              <a:off x="7264213" y="2652285"/>
              <a:ext cx="13599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F6B26B"/>
                  </a:solidFill>
                  <a:latin typeface="Calibri"/>
                  <a:ea typeface="Calibri"/>
                  <a:cs typeface="Calibri"/>
                  <a:sym typeface="Calibri"/>
                </a:rPr>
                <a:t>Extracción de datos</a:t>
              </a:r>
              <a:endParaRPr b="1" sz="1700">
                <a:solidFill>
                  <a:srgbClr val="F6B26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8"/>
            <p:cNvSpPr txBox="1"/>
            <p:nvPr/>
          </p:nvSpPr>
          <p:spPr>
            <a:xfrm>
              <a:off x="7264218" y="3109085"/>
              <a:ext cx="1359900" cy="73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t/>
              </a:r>
              <a:endParaRPr sz="1500">
                <a:solidFill>
                  <a:srgbClr val="85858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8"/>
            <p:cNvSpPr txBox="1"/>
            <p:nvPr/>
          </p:nvSpPr>
          <p:spPr>
            <a:xfrm>
              <a:off x="7725768" y="2109685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b="1" lang="en-US" sz="1500">
                  <a:solidFill>
                    <a:srgbClr val="E69138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b="1" sz="1500">
                <a:solidFill>
                  <a:srgbClr val="E691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" name="Google Shape;73;p8"/>
          <p:cNvSpPr/>
          <p:nvPr/>
        </p:nvSpPr>
        <p:spPr>
          <a:xfrm>
            <a:off x="4005810" y="4069114"/>
            <a:ext cx="471300" cy="49200"/>
          </a:xfrm>
          <a:prstGeom prst="roundRect">
            <a:avLst>
              <a:gd fmla="val 50000" name="adj"/>
            </a:avLst>
          </a:prstGeom>
          <a:solidFill>
            <a:srgbClr val="0B713F"/>
          </a:solidFill>
          <a:ln cap="flat" cmpd="sng" w="9525">
            <a:solidFill>
              <a:srgbClr val="0B713F"/>
            </a:solidFill>
            <a:prstDash val="solid"/>
            <a:round/>
            <a:headEnd len="sm" w="sm" type="none"/>
            <a:tailEnd len="sm" w="sm" type="none"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4" name="Google Shape;74;p8"/>
          <p:cNvSpPr/>
          <p:nvPr/>
        </p:nvSpPr>
        <p:spPr>
          <a:xfrm>
            <a:off x="5811627" y="4069114"/>
            <a:ext cx="471300" cy="49200"/>
          </a:xfrm>
          <a:prstGeom prst="roundRect">
            <a:avLst>
              <a:gd fmla="val 50000" name="adj"/>
            </a:avLst>
          </a:prstGeom>
          <a:solidFill>
            <a:srgbClr val="BF9000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5" name="Google Shape;75;p8"/>
          <p:cNvSpPr/>
          <p:nvPr/>
        </p:nvSpPr>
        <p:spPr>
          <a:xfrm>
            <a:off x="7618127" y="4069114"/>
            <a:ext cx="471300" cy="49200"/>
          </a:xfrm>
          <a:prstGeom prst="roundRect">
            <a:avLst>
              <a:gd fmla="val 50000" name="adj"/>
            </a:avLst>
          </a:prstGeom>
          <a:solidFill>
            <a:srgbClr val="BF9000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6" name="Google Shape;76;p8"/>
          <p:cNvSpPr/>
          <p:nvPr/>
        </p:nvSpPr>
        <p:spPr>
          <a:xfrm>
            <a:off x="9439010" y="4069114"/>
            <a:ext cx="471300" cy="49200"/>
          </a:xfrm>
          <a:prstGeom prst="roundRect">
            <a:avLst>
              <a:gd fmla="val 50000" name="adj"/>
            </a:avLst>
          </a:prstGeom>
          <a:solidFill>
            <a:srgbClr val="E69138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9"/>
          <p:cNvSpPr/>
          <p:nvPr/>
        </p:nvSpPr>
        <p:spPr>
          <a:xfrm>
            <a:off x="5840713" y="2119235"/>
            <a:ext cx="2849100" cy="3405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¿Qué no hace?</a:t>
            </a:r>
            <a:endParaRPr b="1"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No redefine la pregunta de investigación.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No decide por sí mismo qué entra o qué sale.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No reemplaza la bitácora ni el flujo PRISMA.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No evita los errores si los criterios están mal formulados.</a:t>
            </a:r>
            <a:endParaRPr/>
          </a:p>
        </p:txBody>
      </p:sp>
      <p:sp>
        <p:nvSpPr>
          <p:cNvPr id="83" name="Google Shape;83;p9"/>
          <p:cNvSpPr/>
          <p:nvPr/>
        </p:nvSpPr>
        <p:spPr>
          <a:xfrm>
            <a:off x="9110850" y="2119235"/>
            <a:ext cx="2849100" cy="3405900"/>
          </a:xfrm>
          <a:prstGeom prst="roundRect">
            <a:avLst>
              <a:gd fmla="val 16667" name="adj"/>
            </a:avLst>
          </a:prstGeom>
          <a:solidFill>
            <a:srgbClr val="6D9EEB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Uso prudente</a:t>
            </a:r>
            <a:endParaRPr b="1"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Úsalo para apoyar el orden del trabajo.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No dependas ciegamente de sus predicciones.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Cuando haya duda, conserva el registro y revisa en texto completo.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La lógica final sigue siendo humana.</a:t>
            </a:r>
            <a:endParaRPr/>
          </a:p>
        </p:txBody>
      </p:sp>
      <p:sp>
        <p:nvSpPr>
          <p:cNvPr id="84" name="Google Shape;84;p9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¿Qué hace Abstrackr y qué no hace?</a:t>
            </a:r>
            <a:endParaRPr/>
          </a:p>
        </p:txBody>
      </p:sp>
      <p:sp>
        <p:nvSpPr>
          <p:cNvPr id="85" name="Google Shape;85;p9"/>
          <p:cNvSpPr/>
          <p:nvPr/>
        </p:nvSpPr>
        <p:spPr>
          <a:xfrm>
            <a:off x="2570600" y="2119235"/>
            <a:ext cx="2849100" cy="3405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¿Qué hace?</a:t>
            </a:r>
            <a:endParaRPr b="1"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Organiza el cribado por título y resumen.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Permite marcar inclusión, exclusión y duda.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Ayuda a priorizar y avanzar el corpus de forma sistemática.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Facilita la exportación de decisiones para seguimiento.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 revisar antes de ir a Abstrackr</a:t>
            </a:r>
            <a:endParaRPr/>
          </a:p>
        </p:txBody>
      </p:sp>
      <p:sp>
        <p:nvSpPr>
          <p:cNvPr id="92" name="Google Shape;92;p10"/>
          <p:cNvSpPr/>
          <p:nvPr/>
        </p:nvSpPr>
        <p:spPr>
          <a:xfrm>
            <a:off x="3305749" y="3151974"/>
            <a:ext cx="2598300" cy="34059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Duplicados</a:t>
            </a:r>
            <a:endParaRPr b="1"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Detectar y eliminar duplicados antes del cribado. </a:t>
            </a:r>
            <a:r>
              <a:rPr i="1" lang="en-US">
                <a:latin typeface="Calibri"/>
                <a:ea typeface="Calibri"/>
                <a:cs typeface="Calibri"/>
                <a:sym typeface="Calibri"/>
              </a:rPr>
              <a:t>(esto ya lo hace Abstrackr)</a:t>
            </a:r>
            <a:endParaRPr i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Registrar cuántos se eliminaron.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No mezclar conteos deduplicados y no deduplicados.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0"/>
          <p:cNvSpPr/>
          <p:nvPr/>
        </p:nvSpPr>
        <p:spPr>
          <a:xfrm>
            <a:off x="6287945" y="3151974"/>
            <a:ext cx="2598300" cy="34059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Preparación metodológica</a:t>
            </a:r>
            <a:endParaRPr b="1"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Tener a mano el protocolo V1.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Revisar criterios operativos.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Definir razones de exclusión preliminares.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0"/>
          <p:cNvSpPr/>
          <p:nvPr/>
        </p:nvSpPr>
        <p:spPr>
          <a:xfrm>
            <a:off x="323575" y="3151974"/>
            <a:ext cx="2598300" cy="34059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Calidad mínima el archivo</a:t>
            </a:r>
            <a:endParaRPr b="1"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Título y resumen visibles.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Año, autor o fuente cuando sea posible.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Formato exportado consistente (RIS, CSV u otro compatible).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0"/>
          <p:cNvSpPr/>
          <p:nvPr/>
        </p:nvSpPr>
        <p:spPr>
          <a:xfrm>
            <a:off x="9270130" y="3151974"/>
            <a:ext cx="2598300" cy="34059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Regla práctica</a:t>
            </a:r>
            <a:endParaRPr b="1"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Si el corpus está desordenado, el screening también lo estará.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La limpieza del archivo no es un paso técnico aislado: es parte de la trazabilidad de la revisión.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Tomando decisiones en título/resumen</a:t>
            </a:r>
            <a:endParaRPr/>
          </a:p>
        </p:txBody>
      </p:sp>
      <p:sp>
        <p:nvSpPr>
          <p:cNvPr id="102" name="Google Shape;102;p11"/>
          <p:cNvSpPr/>
          <p:nvPr/>
        </p:nvSpPr>
        <p:spPr>
          <a:xfrm>
            <a:off x="3292049" y="1784899"/>
            <a:ext cx="2598300" cy="34059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Cuando excluir</a:t>
            </a:r>
            <a:endParaRPr b="1"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Está fuera de tema.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La población/contexto no corresponde.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Es editorial, reflexión o texto no empírico.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No aborda la variable central.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1"/>
          <p:cNvSpPr/>
          <p:nvPr/>
        </p:nvSpPr>
        <p:spPr>
          <a:xfrm>
            <a:off x="6274245" y="1784899"/>
            <a:ext cx="2598300" cy="3405900"/>
          </a:xfrm>
          <a:prstGeom prst="roundRect">
            <a:avLst>
              <a:gd fmla="val 16667" name="adj"/>
            </a:avLst>
          </a:prstGeom>
          <a:solidFill>
            <a:srgbClr val="F9CB9C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Duda o caso frontera</a:t>
            </a:r>
            <a:endParaRPr b="1"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El resumen es insuficiente.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El concepto aparece, pero no queda claro si es central.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La población o el diseño generan ambigüedad.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1"/>
          <p:cNvSpPr/>
          <p:nvPr/>
        </p:nvSpPr>
        <p:spPr>
          <a:xfrm>
            <a:off x="309875" y="1784899"/>
            <a:ext cx="2598300" cy="3405900"/>
          </a:xfrm>
          <a:prstGeom prst="roundRect">
            <a:avLst>
              <a:gd fmla="val 16667" name="adj"/>
            </a:avLst>
          </a:prstGeom>
          <a:solidFill>
            <a:srgbClr val="B6D7A8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Cuando incluir provisionalmente</a:t>
            </a:r>
            <a:endParaRPr b="1"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El título/resumen sí responde la pregunta.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La población/contexto coincide.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El tipo de evidencia parece adecuado.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1"/>
          <p:cNvSpPr/>
          <p:nvPr/>
        </p:nvSpPr>
        <p:spPr>
          <a:xfrm>
            <a:off x="9256430" y="1784899"/>
            <a:ext cx="2598300" cy="3405900"/>
          </a:xfrm>
          <a:prstGeom prst="roundRect">
            <a:avLst>
              <a:gd fmla="val 16667" name="adj"/>
            </a:avLst>
          </a:prstGeom>
          <a:solidFill>
            <a:srgbClr val="C27BA0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Regla práctica</a:t>
            </a:r>
            <a:endParaRPr b="1"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Los casos frontera no se resuelven por intuición.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Se resuelven preguntando: ¿qué criterio escrito sustenta esta decisión?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Si no hay criterio suficiente, se conserva como duda o se manda a texto completo.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2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POV estás usando Abstrackr</a:t>
            </a:r>
            <a:endParaRPr/>
          </a:p>
        </p:txBody>
      </p:sp>
      <p:pic>
        <p:nvPicPr>
          <p:cNvPr id="112" name="Google Shape;11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99400"/>
            <a:ext cx="11326534" cy="580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Flujo de trabajo en Abstrackr</a:t>
            </a:r>
            <a:endParaRPr/>
          </a:p>
        </p:txBody>
      </p:sp>
      <p:sp>
        <p:nvSpPr>
          <p:cNvPr id="119" name="Google Shape;119;p13"/>
          <p:cNvSpPr/>
          <p:nvPr/>
        </p:nvSpPr>
        <p:spPr>
          <a:xfrm>
            <a:off x="2298550" y="3001883"/>
            <a:ext cx="792300" cy="49200"/>
          </a:xfrm>
          <a:prstGeom prst="roundRect">
            <a:avLst>
              <a:gd fmla="val 50000" name="adj"/>
            </a:avLst>
          </a:prstGeom>
          <a:solidFill>
            <a:srgbClr val="E06666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0" name="Google Shape;120;p13"/>
          <p:cNvGrpSpPr/>
          <p:nvPr/>
        </p:nvGrpSpPr>
        <p:grpSpPr>
          <a:xfrm>
            <a:off x="492888" y="2613868"/>
            <a:ext cx="2104347" cy="1533528"/>
            <a:chOff x="369675" y="1960450"/>
            <a:chExt cx="1578300" cy="1150175"/>
          </a:xfrm>
        </p:grpSpPr>
        <p:sp>
          <p:nvSpPr>
            <p:cNvPr id="121" name="Google Shape;121;p13"/>
            <p:cNvSpPr/>
            <p:nvPr/>
          </p:nvSpPr>
          <p:spPr>
            <a:xfrm>
              <a:off x="861672" y="1960450"/>
              <a:ext cx="594300" cy="594300"/>
            </a:xfrm>
            <a:prstGeom prst="ellipse">
              <a:avLst/>
            </a:prstGeom>
            <a:noFill/>
            <a:ln cap="flat" cmpd="sng" w="50800">
              <a:solidFill>
                <a:srgbClr val="6D9EEB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1438" rotWithShape="0" algn="bl" dir="2700000" dist="47625">
                <a:srgbClr val="000000">
                  <a:alpha val="50000"/>
                </a:srgbClr>
              </a:outerShdw>
            </a:effectLst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3"/>
            <p:cNvSpPr txBox="1"/>
            <p:nvPr/>
          </p:nvSpPr>
          <p:spPr>
            <a:xfrm>
              <a:off x="940422" y="2121624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b="1" lang="en-US" sz="1800">
                  <a:solidFill>
                    <a:srgbClr val="6D9EEB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b="1" sz="18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13"/>
            <p:cNvSpPr txBox="1"/>
            <p:nvPr/>
          </p:nvSpPr>
          <p:spPr>
            <a:xfrm>
              <a:off x="369675" y="2664225"/>
              <a:ext cx="15783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6D9EEB"/>
                  </a:solidFill>
                  <a:latin typeface="Calibri"/>
                  <a:ea typeface="Calibri"/>
                  <a:cs typeface="Calibri"/>
                  <a:sym typeface="Calibri"/>
                </a:rPr>
                <a:t>Cargar corpus</a:t>
              </a:r>
              <a:endParaRPr b="1" sz="1800">
                <a:solidFill>
                  <a:srgbClr val="6D9EE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4" name="Google Shape;124;p13"/>
          <p:cNvGrpSpPr/>
          <p:nvPr/>
        </p:nvGrpSpPr>
        <p:grpSpPr>
          <a:xfrm>
            <a:off x="2819546" y="2613868"/>
            <a:ext cx="2049549" cy="1533528"/>
            <a:chOff x="2114712" y="1960450"/>
            <a:chExt cx="1537200" cy="1150175"/>
          </a:xfrm>
        </p:grpSpPr>
        <p:sp>
          <p:nvSpPr>
            <p:cNvPr id="125" name="Google Shape;125;p13"/>
            <p:cNvSpPr/>
            <p:nvPr/>
          </p:nvSpPr>
          <p:spPr>
            <a:xfrm>
              <a:off x="2586168" y="1960450"/>
              <a:ext cx="594300" cy="594300"/>
            </a:xfrm>
            <a:prstGeom prst="ellipse">
              <a:avLst/>
            </a:prstGeom>
            <a:noFill/>
            <a:ln cap="flat" cmpd="sng" w="50800">
              <a:solidFill>
                <a:srgbClr val="E06666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1438" rotWithShape="0" algn="bl" dir="2700000" dist="47625">
                <a:srgbClr val="000000">
                  <a:alpha val="50000"/>
                </a:srgbClr>
              </a:outerShdw>
            </a:effectLst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13"/>
            <p:cNvSpPr txBox="1"/>
            <p:nvPr/>
          </p:nvSpPr>
          <p:spPr>
            <a:xfrm>
              <a:off x="2114712" y="2664225"/>
              <a:ext cx="15372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E06666"/>
                  </a:solidFill>
                  <a:latin typeface="Calibri"/>
                  <a:ea typeface="Calibri"/>
                  <a:cs typeface="Calibri"/>
                  <a:sym typeface="Calibri"/>
                </a:rPr>
                <a:t>Calibrar criterios</a:t>
              </a:r>
              <a:endParaRPr b="1" sz="1800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13"/>
            <p:cNvSpPr txBox="1"/>
            <p:nvPr/>
          </p:nvSpPr>
          <p:spPr>
            <a:xfrm>
              <a:off x="2664918" y="2121624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b="1" lang="en-US" sz="1800">
                  <a:solidFill>
                    <a:srgbClr val="E06666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1" sz="1800">
                <a:solidFill>
                  <a:srgbClr val="E0666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" name="Google Shape;128;p13"/>
          <p:cNvGrpSpPr/>
          <p:nvPr/>
        </p:nvGrpSpPr>
        <p:grpSpPr>
          <a:xfrm>
            <a:off x="5091406" y="2613868"/>
            <a:ext cx="2049549" cy="1533528"/>
            <a:chOff x="3818650" y="1960450"/>
            <a:chExt cx="1537200" cy="1150175"/>
          </a:xfrm>
        </p:grpSpPr>
        <p:sp>
          <p:nvSpPr>
            <p:cNvPr id="129" name="Google Shape;129;p13"/>
            <p:cNvSpPr/>
            <p:nvPr/>
          </p:nvSpPr>
          <p:spPr>
            <a:xfrm>
              <a:off x="4290102" y="1960450"/>
              <a:ext cx="594300" cy="594300"/>
            </a:xfrm>
            <a:prstGeom prst="ellipse">
              <a:avLst/>
            </a:prstGeom>
            <a:noFill/>
            <a:ln cap="flat" cmpd="sng" w="50800">
              <a:solidFill>
                <a:srgbClr val="6AA84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1438" rotWithShape="0" algn="bl" dir="2700000" dist="47625">
                <a:srgbClr val="000000">
                  <a:alpha val="50000"/>
                </a:srgbClr>
              </a:outerShdw>
            </a:effectLst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0" name="Google Shape;130;p13"/>
            <p:cNvSpPr txBox="1"/>
            <p:nvPr/>
          </p:nvSpPr>
          <p:spPr>
            <a:xfrm>
              <a:off x="3818650" y="2664225"/>
              <a:ext cx="15372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6AA84F"/>
                  </a:solidFill>
                  <a:latin typeface="Calibri"/>
                  <a:ea typeface="Calibri"/>
                  <a:cs typeface="Calibri"/>
                  <a:sym typeface="Calibri"/>
                </a:rPr>
                <a:t>Cribar registros</a:t>
              </a:r>
              <a:endParaRPr b="1" sz="18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13"/>
            <p:cNvSpPr txBox="1"/>
            <p:nvPr/>
          </p:nvSpPr>
          <p:spPr>
            <a:xfrm>
              <a:off x="4368852" y="2121624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b="1" lang="en-US" sz="1800">
                  <a:solidFill>
                    <a:srgbClr val="6AA84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b="1" sz="18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2" name="Google Shape;132;p13"/>
          <p:cNvGrpSpPr/>
          <p:nvPr/>
        </p:nvGrpSpPr>
        <p:grpSpPr>
          <a:xfrm>
            <a:off x="7370332" y="2613868"/>
            <a:ext cx="2049549" cy="1533528"/>
            <a:chOff x="5527887" y="1960450"/>
            <a:chExt cx="1537200" cy="1150175"/>
          </a:xfrm>
        </p:grpSpPr>
        <p:sp>
          <p:nvSpPr>
            <p:cNvPr id="133" name="Google Shape;133;p13"/>
            <p:cNvSpPr/>
            <p:nvPr/>
          </p:nvSpPr>
          <p:spPr>
            <a:xfrm>
              <a:off x="5999340" y="1960450"/>
              <a:ext cx="594300" cy="594300"/>
            </a:xfrm>
            <a:prstGeom prst="ellipse">
              <a:avLst/>
            </a:prstGeom>
            <a:noFill/>
            <a:ln cap="flat" cmpd="sng" w="50800">
              <a:solidFill>
                <a:srgbClr val="F1C232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1438" rotWithShape="0" algn="bl" dir="2700000" dist="47625">
                <a:srgbClr val="000000">
                  <a:alpha val="50000"/>
                </a:srgbClr>
              </a:outerShdw>
            </a:effectLst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13"/>
            <p:cNvSpPr txBox="1"/>
            <p:nvPr/>
          </p:nvSpPr>
          <p:spPr>
            <a:xfrm>
              <a:off x="5527887" y="2664225"/>
              <a:ext cx="15372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1C232"/>
                  </a:solidFill>
                  <a:latin typeface="Calibri"/>
                  <a:ea typeface="Calibri"/>
                  <a:cs typeface="Calibri"/>
                  <a:sym typeface="Calibri"/>
                </a:rPr>
                <a:t>Registrar exclusiones</a:t>
              </a:r>
              <a:endParaRPr b="1" sz="180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13"/>
            <p:cNvSpPr txBox="1"/>
            <p:nvPr/>
          </p:nvSpPr>
          <p:spPr>
            <a:xfrm>
              <a:off x="6078090" y="2121624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b="1" lang="en-US" sz="1800">
                  <a:solidFill>
                    <a:srgbClr val="F1C232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b="1" sz="1800">
                <a:solidFill>
                  <a:srgbClr val="F1C23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13"/>
          <p:cNvGrpSpPr/>
          <p:nvPr/>
        </p:nvGrpSpPr>
        <p:grpSpPr>
          <a:xfrm>
            <a:off x="9649275" y="2613868"/>
            <a:ext cx="2049549" cy="1533528"/>
            <a:chOff x="7237137" y="1960450"/>
            <a:chExt cx="1537200" cy="1150175"/>
          </a:xfrm>
        </p:grpSpPr>
        <p:sp>
          <p:nvSpPr>
            <p:cNvPr id="137" name="Google Shape;137;p13"/>
            <p:cNvSpPr/>
            <p:nvPr/>
          </p:nvSpPr>
          <p:spPr>
            <a:xfrm>
              <a:off x="7708593" y="1960450"/>
              <a:ext cx="594300" cy="594300"/>
            </a:xfrm>
            <a:prstGeom prst="ellipse">
              <a:avLst/>
            </a:prstGeom>
            <a:noFill/>
            <a:ln cap="flat" cmpd="sng" w="50800">
              <a:solidFill>
                <a:srgbClr val="1155CC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71438" rotWithShape="0" algn="bl" dir="2700000" dist="47625">
                <a:srgbClr val="000000">
                  <a:alpha val="50000"/>
                </a:srgbClr>
              </a:outerShdw>
            </a:effectLst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13"/>
            <p:cNvSpPr txBox="1"/>
            <p:nvPr/>
          </p:nvSpPr>
          <p:spPr>
            <a:xfrm>
              <a:off x="7237137" y="2664225"/>
              <a:ext cx="15372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155CC"/>
                  </a:solidFill>
                  <a:latin typeface="Calibri"/>
                  <a:ea typeface="Calibri"/>
                  <a:cs typeface="Calibri"/>
                  <a:sym typeface="Calibri"/>
                </a:rPr>
                <a:t>Exportar y contar</a:t>
              </a:r>
              <a:endParaRPr b="1" sz="18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13"/>
            <p:cNvSpPr txBox="1"/>
            <p:nvPr/>
          </p:nvSpPr>
          <p:spPr>
            <a:xfrm>
              <a:off x="7787343" y="2121624"/>
              <a:ext cx="436800" cy="32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2100"/>
                </a:spcAft>
                <a:buNone/>
              </a:pPr>
              <a:r>
                <a:rPr b="1" lang="en-US" sz="1800">
                  <a:solidFill>
                    <a:srgbClr val="1155CC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 b="1" sz="1800">
                <a:solidFill>
                  <a:srgbClr val="1155CC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0" name="Google Shape;140;p13"/>
          <p:cNvSpPr/>
          <p:nvPr/>
        </p:nvSpPr>
        <p:spPr>
          <a:xfrm>
            <a:off x="4584183" y="3001883"/>
            <a:ext cx="792300" cy="49200"/>
          </a:xfrm>
          <a:prstGeom prst="roundRect">
            <a:avLst>
              <a:gd fmla="val 50000" name="adj"/>
            </a:avLst>
          </a:prstGeom>
          <a:solidFill>
            <a:srgbClr val="6AA84F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3"/>
          <p:cNvSpPr/>
          <p:nvPr/>
        </p:nvSpPr>
        <p:spPr>
          <a:xfrm>
            <a:off x="6912117" y="3001883"/>
            <a:ext cx="792300" cy="49200"/>
          </a:xfrm>
          <a:prstGeom prst="roundRect">
            <a:avLst>
              <a:gd fmla="val 50000" name="adj"/>
            </a:avLst>
          </a:prstGeom>
          <a:solidFill>
            <a:srgbClr val="F1C232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3"/>
          <p:cNvSpPr/>
          <p:nvPr/>
        </p:nvSpPr>
        <p:spPr>
          <a:xfrm>
            <a:off x="9138617" y="3001883"/>
            <a:ext cx="792300" cy="49200"/>
          </a:xfrm>
          <a:prstGeom prst="roundRect">
            <a:avLst>
              <a:gd fmla="val 50000" name="adj"/>
            </a:avLst>
          </a:prstGeom>
          <a:solidFill>
            <a:srgbClr val="1155CC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"/>
          <p:cNvSpPr/>
          <p:nvPr/>
        </p:nvSpPr>
        <p:spPr>
          <a:xfrm>
            <a:off x="212600" y="2789900"/>
            <a:ext cx="5989200" cy="20007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/>
          <p:nvPr/>
        </p:nvSpPr>
        <p:spPr>
          <a:xfrm>
            <a:off x="212600" y="4790600"/>
            <a:ext cx="5989200" cy="20007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¡Prueba Abstrackr en tu computadora!</a:t>
            </a:r>
            <a:endParaRPr/>
          </a:p>
        </p:txBody>
      </p:sp>
      <p:sp>
        <p:nvSpPr>
          <p:cNvPr id="151" name="Google Shape;151;p14"/>
          <p:cNvSpPr txBox="1"/>
          <p:nvPr>
            <p:ph idx="1" type="body"/>
          </p:nvPr>
        </p:nvSpPr>
        <p:spPr>
          <a:xfrm>
            <a:off x="317500" y="1312325"/>
            <a:ext cx="5884200" cy="51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Descarga el archivo de caminabilidad en la siguiente liga: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https://github.com/arturoSP/TallerPRISMA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Después ve a Abstrackr, crea tu cuenta y empieza a probar el funcionamiento de la plataforma. </a:t>
            </a:r>
            <a:endParaRPr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Inclusión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El estudio aborda explícitamente la caminabilidad, el entorno peatonal o variables directamente asociadas al desplazamiento a pie.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El estudio se desarrolla en ciudades latinoamericanas o presenta evidencia específica para este contexto.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Exclusión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El estudio no se enfoca en caminabilidad o entorno peatonal.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/>
              <a:t>El estudio no corresponde a América Latina o no permite identificar evidencia para la región de interés.</a:t>
            </a:r>
            <a:endParaRPr/>
          </a:p>
        </p:txBody>
      </p:sp>
      <p:pic>
        <p:nvPicPr>
          <p:cNvPr id="152" name="Google Shape;15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1800" y="1040125"/>
            <a:ext cx="5685500" cy="3207205"/>
          </a:xfrm>
          <a:prstGeom prst="rect">
            <a:avLst/>
          </a:prstGeom>
          <a:noFill/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</p:pic>
      <p:sp>
        <p:nvSpPr>
          <p:cNvPr id="153" name="Google Shape;153;p14"/>
          <p:cNvSpPr/>
          <p:nvPr/>
        </p:nvSpPr>
        <p:spPr>
          <a:xfrm>
            <a:off x="6449125" y="3678050"/>
            <a:ext cx="2211600" cy="474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54100" y="4399730"/>
            <a:ext cx="5657221" cy="230586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4"/>
          <p:cNvSpPr/>
          <p:nvPr/>
        </p:nvSpPr>
        <p:spPr>
          <a:xfrm>
            <a:off x="11392825" y="5389750"/>
            <a:ext cx="362400" cy="327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"/>
          <p:cNvSpPr txBox="1"/>
          <p:nvPr>
            <p:ph idx="1" type="body"/>
          </p:nvPr>
        </p:nvSpPr>
        <p:spPr>
          <a:xfrm>
            <a:off x="317500" y="5605100"/>
            <a:ext cx="5884200" cy="19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PRISMA no es solo el diagrama final: es la lógica de conteos y decisiones que se va construyendo desde ahora.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5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PRISMA preliminar con Abstrackr</a:t>
            </a:r>
            <a:endParaRPr/>
          </a:p>
        </p:txBody>
      </p:sp>
      <p:sp>
        <p:nvSpPr>
          <p:cNvPr id="163" name="Google Shape;163;p15"/>
          <p:cNvSpPr/>
          <p:nvPr/>
        </p:nvSpPr>
        <p:spPr>
          <a:xfrm>
            <a:off x="2692748" y="1587275"/>
            <a:ext cx="2165700" cy="3405900"/>
          </a:xfrm>
          <a:prstGeom prst="roundRect">
            <a:avLst>
              <a:gd fmla="val 16667" name="adj"/>
            </a:avLst>
          </a:prstGeom>
          <a:solidFill>
            <a:srgbClr val="FFD966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Depurados</a:t>
            </a:r>
            <a:endParaRPr b="1"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Registros tras eliminación de duplicados y limpieza básica.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Este total es el que debe entrar a screening.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5013193" y="1587275"/>
            <a:ext cx="2165700" cy="3405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Cribados</a:t>
            </a:r>
            <a:endParaRPr b="1"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Registros revisados por título y resumen.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Aquí se empiezan a documentar exclusiones.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372300" y="1587275"/>
            <a:ext cx="2165700" cy="3405900"/>
          </a:xfrm>
          <a:prstGeom prst="roundRect">
            <a:avLst>
              <a:gd fmla="val 16667" name="adj"/>
            </a:avLst>
          </a:prstGeom>
          <a:solidFill>
            <a:srgbClr val="3D85C6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Identificados</a:t>
            </a:r>
            <a:endParaRPr b="1"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Registros recuperados en las bases y otras fuentes.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Aquí todavía no se decide pertinencia.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7333651" y="1587275"/>
            <a:ext cx="2165700" cy="3405900"/>
          </a:xfrm>
          <a:prstGeom prst="roundRect">
            <a:avLst>
              <a:gd fmla="val 16667" name="adj"/>
            </a:avLst>
          </a:prstGeom>
          <a:solidFill>
            <a:srgbClr val="EA9999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Excluidos</a:t>
            </a:r>
            <a:endParaRPr b="1"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Registros descartados en screening, con categorías de razón.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No basta con decir “no relevante”.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9654100" y="1587275"/>
            <a:ext cx="2165700" cy="3405900"/>
          </a:xfrm>
          <a:prstGeom prst="roundRect">
            <a:avLst>
              <a:gd fmla="val 16667" name="adj"/>
            </a:avLst>
          </a:prstGeom>
          <a:solidFill>
            <a:srgbClr val="76A5AF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texto completo</a:t>
            </a:r>
            <a:endParaRPr b="1" sz="17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Registros que pasan a una revisión más cuidadosa.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Este paso prepara la siguiente actividad.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 txBox="1"/>
          <p:nvPr>
            <p:ph idx="1" type="body"/>
          </p:nvPr>
        </p:nvSpPr>
        <p:spPr>
          <a:xfrm>
            <a:off x="317500" y="1312325"/>
            <a:ext cx="5884200" cy="51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La revisión a texto completo no busca “leer todo”, sino verificar elegibilidad con criterios ya definidos.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6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Paso 4 · Revisión de texto completo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6"/>
          <p:cNvSpPr/>
          <p:nvPr/>
        </p:nvSpPr>
        <p:spPr>
          <a:xfrm>
            <a:off x="3587635" y="2622025"/>
            <a:ext cx="5022600" cy="3405900"/>
          </a:xfrm>
          <a:prstGeom prst="roundRect">
            <a:avLst>
              <a:gd fmla="val 16667" name="adj"/>
            </a:avLst>
          </a:prstGeom>
          <a:solidFill>
            <a:srgbClr val="9FC5E8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¿Qué decisión sale de aquí?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Incluir: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cumple con criterios y entra al corpus de trabajo.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Excluir con razón explícita: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fuera de tema, población distinta, no empírico, sin texto completo, etc.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b="1" lang="en-US" sz="1600">
                <a:latin typeface="Calibri"/>
                <a:ea typeface="Calibri"/>
                <a:cs typeface="Calibri"/>
                <a:sym typeface="Calibri"/>
              </a:rPr>
              <a:t>Duda / caso frontera:</a:t>
            </a:r>
            <a:r>
              <a:rPr lang="en-US" sz="1600">
                <a:latin typeface="Calibri"/>
                <a:ea typeface="Calibri"/>
                <a:cs typeface="Calibri"/>
                <a:sym typeface="Calibri"/>
              </a:rPr>
              <a:t> revisar con criterio operativo, no por intuición.</a:t>
            </a:r>
            <a:endParaRPr sz="16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9014541" y="2622023"/>
            <a:ext cx="2849100" cy="3405900"/>
          </a:xfrm>
          <a:prstGeom prst="roundRect">
            <a:avLst>
              <a:gd fmla="val 16667" name="adj"/>
            </a:avLst>
          </a:prstGeom>
          <a:solidFill>
            <a:srgbClr val="B4A7D6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Producto al cierre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Lista de artículos que pasan a texto completo.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Razones de exclusión normalizadas.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Criterios frontera aclarados.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Base lista para alimentar PRISMA preliminar.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317500" y="2622023"/>
            <a:ext cx="2849100" cy="3405900"/>
          </a:xfrm>
          <a:prstGeom prst="roundRect">
            <a:avLst>
              <a:gd fmla="val 16667" name="adj"/>
            </a:avLst>
          </a:prstGeom>
          <a:solidFill>
            <a:srgbClr val="F6B26B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¿Qué verificamos?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Si el artículo realmente aborda el fenómeno o concepto central.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Si la población, contexto o unidad de análisis coincide con la pregunta.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Si el tipo de documento y el diseño cumplen lo definido en el protocolo.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Si hay información suficiente para justificar inclusión o exclusión.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Flujo operativo para la revisión a texto completo</a:t>
            </a:r>
            <a:endParaRPr/>
          </a:p>
        </p:txBody>
      </p:sp>
      <p:grpSp>
        <p:nvGrpSpPr>
          <p:cNvPr id="184" name="Google Shape;184;p17"/>
          <p:cNvGrpSpPr/>
          <p:nvPr/>
        </p:nvGrpSpPr>
        <p:grpSpPr>
          <a:xfrm>
            <a:off x="9165137" y="2195927"/>
            <a:ext cx="2751931" cy="4290359"/>
            <a:chOff x="6874025" y="1189775"/>
            <a:chExt cx="2064000" cy="3217850"/>
          </a:xfrm>
        </p:grpSpPr>
        <p:sp>
          <p:nvSpPr>
            <p:cNvPr id="185" name="Google Shape;185;p17"/>
            <p:cNvSpPr/>
            <p:nvPr/>
          </p:nvSpPr>
          <p:spPr>
            <a:xfrm>
              <a:off x="6874025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134F5C"/>
            </a:solidFill>
            <a:ln>
              <a:noFill/>
            </a:ln>
            <a:effectLst>
              <a:outerShdw blurRad="71438" rotWithShape="0" algn="bl" dir="2700000" dist="47625">
                <a:srgbClr val="000000">
                  <a:alpha val="50000"/>
                </a:srgbClr>
              </a:outerShdw>
            </a:effectLst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Actualizar el conteo PRISMA</a:t>
              </a:r>
              <a:endParaRPr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17"/>
            <p:cNvSpPr txBox="1"/>
            <p:nvPr/>
          </p:nvSpPr>
          <p:spPr>
            <a:xfrm>
              <a:off x="71838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Cada decisión modifica el flujo y debe reflejarse en el registro preliminar.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7" name="Google Shape;187;p17"/>
          <p:cNvGrpSpPr/>
          <p:nvPr/>
        </p:nvGrpSpPr>
        <p:grpSpPr>
          <a:xfrm>
            <a:off x="6926960" y="2195927"/>
            <a:ext cx="2751931" cy="4290359"/>
            <a:chOff x="5195350" y="1189775"/>
            <a:chExt cx="2064000" cy="3217850"/>
          </a:xfrm>
        </p:grpSpPr>
        <p:sp>
          <p:nvSpPr>
            <p:cNvPr id="188" name="Google Shape;188;p17"/>
            <p:cNvSpPr/>
            <p:nvPr/>
          </p:nvSpPr>
          <p:spPr>
            <a:xfrm>
              <a:off x="5195350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38761D"/>
            </a:solidFill>
            <a:ln>
              <a:noFill/>
            </a:ln>
            <a:effectLst>
              <a:outerShdw blurRad="71438" rotWithShape="0" algn="bl" dir="2700000" dist="47625">
                <a:srgbClr val="000000">
                  <a:alpha val="50000"/>
                </a:srgbClr>
              </a:outerShdw>
            </a:effectLst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Registrar razón de exclusión</a:t>
              </a:r>
              <a:endParaRPr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7"/>
            <p:cNvSpPr txBox="1"/>
            <p:nvPr/>
          </p:nvSpPr>
          <p:spPr>
            <a:xfrm>
              <a:off x="54616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La razón debe ser breve, estable y reusable en más de un caso.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0" name="Google Shape;190;p17"/>
          <p:cNvGrpSpPr/>
          <p:nvPr/>
        </p:nvGrpSpPr>
        <p:grpSpPr>
          <a:xfrm>
            <a:off x="4688882" y="2195927"/>
            <a:ext cx="2751931" cy="4290359"/>
            <a:chOff x="3516750" y="1189775"/>
            <a:chExt cx="2064000" cy="3217850"/>
          </a:xfrm>
        </p:grpSpPr>
        <p:sp>
          <p:nvSpPr>
            <p:cNvPr id="191" name="Google Shape;191;p17"/>
            <p:cNvSpPr/>
            <p:nvPr/>
          </p:nvSpPr>
          <p:spPr>
            <a:xfrm>
              <a:off x="3516750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BF9000"/>
            </a:solidFill>
            <a:ln>
              <a:noFill/>
            </a:ln>
            <a:effectLst>
              <a:outerShdw blurRad="71438" rotWithShape="0" algn="bl" dir="2700000" dist="47625">
                <a:srgbClr val="000000">
                  <a:alpha val="50000"/>
                </a:srgbClr>
              </a:outerShdw>
            </a:effectLst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Tomar una decisión</a:t>
              </a:r>
              <a:endParaRPr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17"/>
            <p:cNvSpPr txBox="1"/>
            <p:nvPr/>
          </p:nvSpPr>
          <p:spPr>
            <a:xfrm>
              <a:off x="37394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Incluir, excluir con razón explícita o dejar en duda si falta información clave.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3" name="Google Shape;193;p17"/>
          <p:cNvGrpSpPr/>
          <p:nvPr/>
        </p:nvGrpSpPr>
        <p:grpSpPr>
          <a:xfrm>
            <a:off x="2451039" y="2195927"/>
            <a:ext cx="2751931" cy="4290359"/>
            <a:chOff x="1838325" y="1189775"/>
            <a:chExt cx="2064000" cy="3217850"/>
          </a:xfrm>
        </p:grpSpPr>
        <p:sp>
          <p:nvSpPr>
            <p:cNvPr id="194" name="Google Shape;194;p17"/>
            <p:cNvSpPr/>
            <p:nvPr/>
          </p:nvSpPr>
          <p:spPr>
            <a:xfrm>
              <a:off x="1838325" y="1189775"/>
              <a:ext cx="2064000" cy="669000"/>
            </a:xfrm>
            <a:prstGeom prst="chevron">
              <a:avLst>
                <a:gd fmla="val 50000" name="adj"/>
              </a:avLst>
            </a:prstGeom>
            <a:solidFill>
              <a:srgbClr val="E69138"/>
            </a:solidFill>
            <a:ln>
              <a:noFill/>
            </a:ln>
            <a:effectLst>
              <a:outerShdw blurRad="71438" rotWithShape="0" algn="bl" dir="2700000" dist="47625">
                <a:srgbClr val="000000">
                  <a:alpha val="50000"/>
                </a:srgbClr>
              </a:outerShdw>
            </a:effectLst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Aplicar criterios operativos</a:t>
              </a:r>
              <a:endParaRPr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17"/>
            <p:cNvSpPr txBox="1"/>
            <p:nvPr/>
          </p:nvSpPr>
          <p:spPr>
            <a:xfrm>
              <a:off x="20172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No volver a improvisar reglas: usar los documentos alimentados en la sesión 2.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6" name="Google Shape;196;p17"/>
          <p:cNvGrpSpPr/>
          <p:nvPr/>
        </p:nvGrpSpPr>
        <p:grpSpPr>
          <a:xfrm>
            <a:off x="0" y="2196213"/>
            <a:ext cx="2952726" cy="4290074"/>
            <a:chOff x="0" y="1189989"/>
            <a:chExt cx="2214600" cy="3217636"/>
          </a:xfrm>
        </p:grpSpPr>
        <p:sp>
          <p:nvSpPr>
            <p:cNvPr id="197" name="Google Shape;197;p17"/>
            <p:cNvSpPr/>
            <p:nvPr/>
          </p:nvSpPr>
          <p:spPr>
            <a:xfrm>
              <a:off x="0" y="1189989"/>
              <a:ext cx="2214600" cy="669000"/>
            </a:xfrm>
            <a:prstGeom prst="homePlate">
              <a:avLst>
                <a:gd fmla="val 50000" name="adj"/>
              </a:avLst>
            </a:prstGeom>
            <a:solidFill>
              <a:srgbClr val="CC0000"/>
            </a:solidFill>
            <a:ln>
              <a:noFill/>
            </a:ln>
            <a:effectLst>
              <a:outerShdw blurRad="71438" rotWithShape="0" algn="bl" dir="2700000" dist="47625">
                <a:srgbClr val="000000">
                  <a:alpha val="50000"/>
                </a:srgbClr>
              </a:outerShdw>
            </a:effectLst>
          </p:spPr>
          <p:txBody>
            <a:bodyPr anchorCtr="0" anchor="ctr" bIns="121900" lIns="121900" spcFirstLastPara="1" rIns="121900" wrap="square" tIns="1219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Abrir texto completo</a:t>
              </a:r>
              <a:endParaRPr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17"/>
            <p:cNvSpPr txBox="1"/>
            <p:nvPr/>
          </p:nvSpPr>
          <p:spPr>
            <a:xfrm>
              <a:off x="295050" y="2057125"/>
              <a:ext cx="1624500" cy="235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21900" lIns="121900" spcFirstLastPara="1" rIns="121900" wrap="square" tIns="12190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latin typeface="Calibri"/>
                  <a:ea typeface="Calibri"/>
                  <a:cs typeface="Calibri"/>
                  <a:sym typeface="Calibri"/>
                </a:rPr>
                <a:t>Verificar que el PDF o documento sea legible y corresponda al registro cribado.</a:t>
              </a:r>
              <a:endParaRPr sz="1800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8"/>
          <p:cNvSpPr txBox="1"/>
          <p:nvPr>
            <p:ph idx="1" type="body"/>
          </p:nvPr>
        </p:nvSpPr>
        <p:spPr>
          <a:xfrm>
            <a:off x="317500" y="1312325"/>
            <a:ext cx="5884200" cy="51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US"/>
              <a:t>PRISMA no es solo el diagrama de flujo: es la lógica de trazabilidad del proceso de selección.</a:t>
            </a: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411480" y="256032"/>
            <a:ext cx="777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lay"/>
              <a:buNone/>
            </a:pPr>
            <a:r>
              <a:t/>
            </a:r>
            <a:endParaRPr b="1" i="0" sz="2400" u="none" cap="none" strike="noStrike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886968" y="2164080"/>
            <a:ext cx="4572000" cy="4343400"/>
          </a:xfrm>
          <a:prstGeom prst="roundRect">
            <a:avLst>
              <a:gd fmla="val 8250" name="adj"/>
            </a:avLst>
          </a:prstGeom>
          <a:solidFill>
            <a:srgbClr val="A64D79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¿Qué deberíamos poder contar hoy?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Registros identificados en las bases consultadas.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Registros tras eliminación de duplicados.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Registros enviados a screening.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Registros excluidos por título/resumen.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Artículos que pasan a revisión de texto completo.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Primeras razones de exclusión en texto completo.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6019800" y="2164080"/>
            <a:ext cx="5486400" cy="1965900"/>
          </a:xfrm>
          <a:prstGeom prst="roundRect">
            <a:avLst>
              <a:gd fmla="val 15612" name="adj"/>
            </a:avLst>
          </a:prstGeom>
          <a:solidFill>
            <a:srgbClr val="FFD966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Razones de exclusión comunes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Fuera de tema o enfoque principal no alineado.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Población o contexto distinto al definido.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Tipo de documento no elegible.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Sin evidencia empírica / diseño no pertinente.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Texto completo no recuperable.</a:t>
            </a: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6019800" y="4450080"/>
            <a:ext cx="5486400" cy="2011800"/>
          </a:xfrm>
          <a:prstGeom prst="roundRect">
            <a:avLst>
              <a:gd fmla="val 16211" name="adj"/>
            </a:avLst>
          </a:prstGeom>
          <a:solidFill>
            <a:srgbClr val="A4C2F4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Producto mínimo al Paso 4</a:t>
            </a:r>
            <a:endParaRPr b="1" sz="20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Conteos llenos hasta screening.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Artículos enviados a texto completo claramente identificados.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Razones de exclusión iniciales ya listas para reutilizar.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Un esquema PRISMA que pueda actualizarse en la siguiente sesión.</a:t>
            </a:r>
            <a:endParaRPr/>
          </a:p>
        </p:txBody>
      </p:sp>
      <p:sp>
        <p:nvSpPr>
          <p:cNvPr id="209" name="Google Shape;209;p18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Paso 5 · Registro PRISMA preliminar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9"/>
          <p:cNvSpPr txBox="1"/>
          <p:nvPr>
            <p:ph idx="1" type="body"/>
          </p:nvPr>
        </p:nvSpPr>
        <p:spPr>
          <a:xfrm>
            <a:off x="317500" y="1312325"/>
            <a:ext cx="5852700" cy="510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US"/>
              <a:t>H</a:t>
            </a:r>
            <a:r>
              <a:rPr lang="en-US"/>
              <a:t>oy cerramos screening y activamos texto completo + PRISMA preliminar, la última sesión se enfocará en integración del documento de revisión.</a:t>
            </a:r>
            <a:endParaRPr/>
          </a:p>
        </p:txBody>
      </p:sp>
      <p:sp>
        <p:nvSpPr>
          <p:cNvPr id="216" name="Google Shape;216;p19"/>
          <p:cNvSpPr txBox="1"/>
          <p:nvPr>
            <p:ph type="title"/>
          </p:nvPr>
        </p:nvSpPr>
        <p:spPr>
          <a:xfrm>
            <a:off x="317500" y="122700"/>
            <a:ext cx="11377200" cy="6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¿Qué queda para la sesión 4?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9"/>
          <p:cNvSpPr/>
          <p:nvPr/>
        </p:nvSpPr>
        <p:spPr>
          <a:xfrm>
            <a:off x="3639313" y="2607410"/>
            <a:ext cx="2849100" cy="3405900"/>
          </a:xfrm>
          <a:prstGeom prst="roundRect">
            <a:avLst>
              <a:gd fmla="val 16667" name="adj"/>
            </a:avLst>
          </a:prstGeom>
          <a:solidFill>
            <a:srgbClr val="E69138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Pendiente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Elegibilidad a texto completo.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Extracción mínima de datos.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Actualización del flujo PRISMA.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Bibliometría e integración final.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369200" y="2607410"/>
            <a:ext cx="2849100" cy="3405900"/>
          </a:xfrm>
          <a:prstGeom prst="roundRect">
            <a:avLst>
              <a:gd fmla="val 16667" name="adj"/>
            </a:avLst>
          </a:prstGeom>
          <a:solidFill>
            <a:srgbClr val="93C47D"/>
          </a:solidFill>
          <a:ln>
            <a:noFill/>
          </a:ln>
          <a:effectLst>
            <a:outerShdw blurRad="71438" rotWithShape="0" algn="bl" dir="2700000" dist="47625">
              <a:srgbClr val="000000">
                <a:alpha val="5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Listo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Screening inicial completado o muy avanzado.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Lista de textos completos definida.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Razones de exclusión consistentes.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PRISMA preliminar en funcionamiento.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